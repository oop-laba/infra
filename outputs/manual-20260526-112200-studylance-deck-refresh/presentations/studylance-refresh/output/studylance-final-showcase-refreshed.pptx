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C2A04CF-382B-470D-A68A-905A92F6F7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3820CBD5-D7EC-4D08-B403-D4414657BEF3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>
              <a:ext uri="{FF2B5EF4-FFF2-40B4-BE49-F238E27FC236}">
                <a16:creationId xmlns:a16="http://schemas.microsoft.com/office/drawing/2014/main" id="{3348AFDA-C6C0-45DC-B163-B32117A0B46E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ФИНАЛЬНЫЙ ПОКАЗ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0FD46A-3296-4D6B-A5A5-F6E35012198A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4476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Studylance</a:t>
            </a:r>
            <a:r>
              <a:rPr sz="2850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sz="2850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готовый</a:t>
            </a:r>
            <a:r>
              <a:rPr sz="2850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50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маркетплейс</a:t>
            </a:r>
            <a:r>
              <a:rPr sz="2850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50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учебных</a:t>
            </a:r>
            <a:r>
              <a:rPr sz="2850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50" b="1" dirty="0" err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заданий</a:t>
            </a:r>
            <a:r>
              <a:rPr sz="2850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D056D3-475A-4BF8-A316-65538DBAF18C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4095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Продукт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объединяет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публикацию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задания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поиск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исполнителя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отклики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профили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отзывы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жалобы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и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админ-контроль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в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одном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интерфейсе</a:t>
            </a:r>
            <a:r>
              <a:rPr sz="1500" b="0" dirty="0">
                <a:solidFill>
                  <a:srgbClr val="161616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C5E993-E8C2-45D0-B670-1328E0EE0C54}"/>
              </a:ext>
            </a:extLst>
          </p:cNvPr>
          <p:cNvSpPr>
            <a:spLocks noGrp="1"/>
          </p:cNvSpPr>
          <p:nvPr/>
        </p:nvSpPr>
        <p:spPr>
          <a:xfrm>
            <a:off x="647700" y="3714750"/>
            <a:ext cx="1695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endParaRPr sz="2550" b="1" dirty="0">
              <a:solidFill>
                <a:srgbClr val="7C3AE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943692-1E34-4070-BCC5-DDD509990061}"/>
              </a:ext>
            </a:extLst>
          </p:cNvPr>
          <p:cNvSpPr>
            <a:spLocks noGrp="1"/>
          </p:cNvSpPr>
          <p:nvPr/>
        </p:nvSpPr>
        <p:spPr>
          <a:xfrm>
            <a:off x="2724150" y="3714750"/>
            <a:ext cx="1695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endParaRPr sz="2550" b="1" dirty="0">
              <a:solidFill>
                <a:srgbClr val="0F766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C17360F-5EB5-4AD6-9078-E45D81BFB82B}"/>
              </a:ext>
            </a:extLst>
          </p:cNvPr>
          <p:cNvSpPr>
            <a:spLocks noGrp="1"/>
          </p:cNvSpPr>
          <p:nvPr/>
        </p:nvSpPr>
        <p:spPr>
          <a:xfrm>
            <a:off x="5391150" y="800100"/>
            <a:ext cx="5829300" cy="369570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26" name="Рисунок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67753" y="876300"/>
            <a:ext cx="5676094" cy="35433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DB2818-B564-46DF-993A-19F4D16B8ECD}"/>
              </a:ext>
            </a:extLst>
          </p:cNvPr>
          <p:cNvSpPr>
            <a:spLocks noGrp="1"/>
          </p:cNvSpPr>
          <p:nvPr/>
        </p:nvSpPr>
        <p:spPr>
          <a:xfrm>
            <a:off x="5467350" y="4552950"/>
            <a:ext cx="567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Главный экран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43D9FE3-F020-4CE7-8781-6D70AB0C1D5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40988E2-07DC-4585-8207-6F9AE8B2F9B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AF499EB-7B1F-4B27-AEDC-179F639DC4CD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611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6B5E27-10EA-4304-8201-CDF0E34AB8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21F89D09-4A2F-4503-A4B0-1F500DB26C21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10530826-601B-4354-8E27-3E46181E5478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ЧТО ЭТО ЗА ПРОДУКТ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C8FA99-719C-49B3-8761-AD9FE8A8366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Studylance закрывает весь цикл студенческого заказа.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EA37E5-8A0F-4724-A93A-D0319F3E3CBE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Финальный результат — web-приложение, которое можно запустить локально одной командой и показать как цельный продукт.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D220B8-432F-4CE2-8904-365C37E2B9D5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9096F0-1367-4232-B817-670CD2826712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Заказчик создает задачу с бюджетом, категорией, вложением и контактом.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43B3F2-7746-4031-B30F-7753CDDD4FE6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4FD8F39-679E-4EAD-B4EB-CB35AB6DA095}"/>
              </a:ext>
            </a:extLst>
          </p:cNvPr>
          <p:cNvSpPr>
            <a:spLocks noGrp="1"/>
          </p:cNvSpPr>
          <p:nvPr/>
        </p:nvSpPr>
        <p:spPr>
          <a:xfrm>
            <a:off x="1066800" y="32766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Исполнитель ищет подходящие задачи, оставляет отклик и формирует репутацию профилем.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D34707-1F20-4957-8814-C8DD7258488D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AB57490-48A4-4359-994D-022635FAE529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Администратор видит пользователей, жалобы и может управлять спорными ситуациями.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E14614-A272-4A04-BD6D-BC0417B675C3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6BD2BDE-96F1-4447-8A31-A0703376D5BD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Интерфейс русифицирован и выглядит как финальный пользовательский продукт.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41337B-5214-41B6-B0C7-3A5634FB7B70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8953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Ключевая идея: заменить хаотичные договоренности в чатах структурированным процессом с понятными статусами и ролями.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9806EE9-767D-4137-A75A-F7162C40ED5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0812D81-9F20-42DA-9B4D-CF48E8C51BA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FC7B7FC-A8B9-4490-8D9C-CF1A95CAB435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359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7D6746A-A9F3-4DB1-8654-7C01449E10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265C4CB9-C121-40BC-A0F0-856C69CA206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AE432596-FFAA-40BA-849E-54E9493815C2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АКТУАЛЬНОСТЬ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C0FBA9-C654-43A6-8E03-56547D57276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191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Спрос на учебную помощь есть, но процесс часто остается вне системы.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21FB35-6885-46CC-A928-42F662DC7B12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Чаты и личные переписки быстро решают “спросить”, но плохо решают “управлять заказом”.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568A45-A990-4391-8C9A-3275E2A3166B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7D2D12-B567-4A15-964B-0260D1D509FF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38100" cy="13144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22BADD-BCF9-4909-9EF8-EA1A29B6C230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Запросы теряются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93B97A-10E7-4D97-A3A9-B5AD77BC0AA5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В чате сложно искать старые задания, сравнивать бюджеты и понимать актуальность.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4434AA-E5D3-457E-9EC4-712F9CB14979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F6982B3-5978-465B-9D85-ABAFDFA20833}"/>
              </a:ext>
            </a:extLst>
          </p:cNvPr>
          <p:cNvSpPr>
            <a:spLocks noGrp="1"/>
          </p:cNvSpPr>
          <p:nvPr/>
        </p:nvSpPr>
        <p:spPr>
          <a:xfrm>
            <a:off x="3524250" y="2647950"/>
            <a:ext cx="38100" cy="1314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C8A7734-21FC-4CD0-8B45-EF6D63EDD193}"/>
              </a:ext>
            </a:extLst>
          </p:cNvPr>
          <p:cNvSpPr>
            <a:spLocks noGrp="1"/>
          </p:cNvSpPr>
          <p:nvPr/>
        </p:nvSpPr>
        <p:spPr>
          <a:xfrm>
            <a:off x="36957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Нет жизненного цикла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4441E7B-7082-4D25-9511-B1F0F24BF021}"/>
              </a:ext>
            </a:extLst>
          </p:cNvPr>
          <p:cNvSpPr>
            <a:spLocks noGrp="1"/>
          </p:cNvSpPr>
          <p:nvPr/>
        </p:nvSpPr>
        <p:spPr>
          <a:xfrm>
            <a:off x="36957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Не видно, открыто задание или уже выбрали исполнителя.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F7FB0F3-6DA7-4500-AAAB-3B8D8E036D12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84E7B1D-9393-47AF-9645-C3B2F4059411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38100" cy="13144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2D3E64-77CE-4AD3-A12C-13105335C05F}"/>
              </a:ext>
            </a:extLst>
          </p:cNvPr>
          <p:cNvSpPr>
            <a:spLocks noGrp="1"/>
          </p:cNvSpPr>
          <p:nvPr/>
        </p:nvSpPr>
        <p:spPr>
          <a:xfrm>
            <a:off x="64008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Сложно доверять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8B7D787-99D9-44F4-B19D-F22CBC71AFFA}"/>
              </a:ext>
            </a:extLst>
          </p:cNvPr>
          <p:cNvSpPr>
            <a:spLocks noGrp="1"/>
          </p:cNvSpPr>
          <p:nvPr/>
        </p:nvSpPr>
        <p:spPr>
          <a:xfrm>
            <a:off x="64008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Без профиля, отзывов и истории исполнитель выглядит анонимно.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F2FC831-8240-497F-A6B1-7F919F96D33B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2343150" cy="13144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1C6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DA60458-FD9B-4362-B3F4-901980744C3D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8100" cy="1314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DBC29A8-63BA-4CBE-B4D8-50FB295E1056}"/>
              </a:ext>
            </a:extLst>
          </p:cNvPr>
          <p:cNvSpPr>
            <a:spLocks noGrp="1"/>
          </p:cNvSpPr>
          <p:nvPr/>
        </p:nvSpPr>
        <p:spPr>
          <a:xfrm>
            <a:off x="9105900" y="280035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Нет контроля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3981276-8749-44CD-A983-FA6C8C62F2B0}"/>
              </a:ext>
            </a:extLst>
          </p:cNvPr>
          <p:cNvSpPr>
            <a:spLocks noGrp="1"/>
          </p:cNvSpPr>
          <p:nvPr/>
        </p:nvSpPr>
        <p:spPr>
          <a:xfrm>
            <a:off x="9105900" y="3143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Жалобы и блокировки требуют отдельной ручной модерации.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122C4F6-C1DD-4D47-8DFD-AED6B0A7E02C}"/>
              </a:ext>
            </a:extLst>
          </p:cNvPr>
          <p:cNvSpPr>
            <a:spLocks noGrp="1"/>
          </p:cNvSpPr>
          <p:nvPr/>
        </p:nvSpPr>
        <p:spPr>
          <a:xfrm>
            <a:off x="1466850" y="495300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Studylance актуален как нишевая система: он не пытается заменить все доски объявлений, а специализируется на учебных задачах.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D80ABF1-E0DE-436A-9DDD-233F381CB72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3249320-BD42-4218-ADCA-F4CA0B18294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3AC26A1-97EF-4BC1-BE4D-40E18B7D5023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1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84B9930-2E64-466F-89B0-B3266CBE0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868C1F66-EB6B-45CA-BFE0-EDA2A73277DD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AECC72ED-0B4F-4904-9404-7F6E8427F613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ЦЕЛИ И РЕЗУЛЬТАТ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8B527F-3929-43B3-8616-3016918F01A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620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Цели проекта переведены в конкретные реализованные функции.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6312903-B440-443F-AFCD-FE1825C8D410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C57359-01BC-48A0-B414-A7ECA4873862}"/>
              </a:ext>
            </a:extLst>
          </p:cNvPr>
          <p:cNvSpPr>
            <a:spLocks noGrp="1"/>
          </p:cNvSpPr>
          <p:nvPr/>
        </p:nvSpPr>
        <p:spPr>
          <a:xfrm>
            <a:off x="3695700" y="20764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Что уже реализовано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FA1B3D-6E65-4086-A622-73B450A1BECB}"/>
              </a:ext>
            </a:extLst>
          </p:cNvPr>
          <p:cNvSpPr>
            <a:spLocks noGrp="1"/>
          </p:cNvSpPr>
          <p:nvPr/>
        </p:nvSpPr>
        <p:spPr>
          <a:xfrm>
            <a:off x="819150" y="241935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096377-CE30-4C0F-B8F2-8B2AF72E0496}"/>
              </a:ext>
            </a:extLst>
          </p:cNvPr>
          <p:cNvSpPr>
            <a:spLocks noGrp="1"/>
          </p:cNvSpPr>
          <p:nvPr/>
        </p:nvSpPr>
        <p:spPr>
          <a:xfrm>
            <a:off x="3543300" y="241935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C1C60F3-4AD0-4588-97F0-F555C76F84C9}"/>
              </a:ext>
            </a:extLst>
          </p:cNvPr>
          <p:cNvSpPr>
            <a:spLocks noGrp="1"/>
          </p:cNvSpPr>
          <p:nvPr/>
        </p:nvSpPr>
        <p:spPr>
          <a:xfrm>
            <a:off x="990600" y="256222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Быстро создать заказ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8B6FAE8-6940-45BC-9335-C84A98BD5CCB}"/>
              </a:ext>
            </a:extLst>
          </p:cNvPr>
          <p:cNvSpPr>
            <a:spLocks noGrp="1"/>
          </p:cNvSpPr>
          <p:nvPr/>
        </p:nvSpPr>
        <p:spPr>
          <a:xfrm>
            <a:off x="3752850" y="256222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форма публикации, бюджет, вложение, контакт, кастомная категория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05CDC8D-112A-413E-AC44-755B6C2AAEF5}"/>
              </a:ext>
            </a:extLst>
          </p:cNvPr>
          <p:cNvSpPr>
            <a:spLocks noGrp="1"/>
          </p:cNvSpPr>
          <p:nvPr/>
        </p:nvSpPr>
        <p:spPr>
          <a:xfrm>
            <a:off x="819150" y="316230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33F47B-63F1-4339-A34B-D27A6A0B0F67}"/>
              </a:ext>
            </a:extLst>
          </p:cNvPr>
          <p:cNvSpPr>
            <a:spLocks noGrp="1"/>
          </p:cNvSpPr>
          <p:nvPr/>
        </p:nvSpPr>
        <p:spPr>
          <a:xfrm>
            <a:off x="3543300" y="316230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B62C60E-DAB2-4FFC-AD36-A59881A8AFE0}"/>
              </a:ext>
            </a:extLst>
          </p:cNvPr>
          <p:cNvSpPr>
            <a:spLocks noGrp="1"/>
          </p:cNvSpPr>
          <p:nvPr/>
        </p:nvSpPr>
        <p:spPr>
          <a:xfrm>
            <a:off x="990600" y="330517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Найти исполнителя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53D0F25-3B4A-4D16-A1C2-9F841D378875}"/>
              </a:ext>
            </a:extLst>
          </p:cNvPr>
          <p:cNvSpPr>
            <a:spLocks noGrp="1"/>
          </p:cNvSpPr>
          <p:nvPr/>
        </p:nvSpPr>
        <p:spPr>
          <a:xfrm>
            <a:off x="3752850" y="330517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каталог, поиск, фильтры, сортировка, карточки заданий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B3D39D-29E2-4B4A-89CD-067032BD785B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70B3760-82A9-4059-A322-661F909E4B14}"/>
              </a:ext>
            </a:extLst>
          </p:cNvPr>
          <p:cNvSpPr>
            <a:spLocks noGrp="1"/>
          </p:cNvSpPr>
          <p:nvPr/>
        </p:nvSpPr>
        <p:spPr>
          <a:xfrm>
            <a:off x="3543300" y="390525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B61794-5AB9-4F89-81AD-290B8E95AD9E}"/>
              </a:ext>
            </a:extLst>
          </p:cNvPr>
          <p:cNvSpPr>
            <a:spLocks noGrp="1"/>
          </p:cNvSpPr>
          <p:nvPr/>
        </p:nvSpPr>
        <p:spPr>
          <a:xfrm>
            <a:off x="990600" y="404812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Сохранить доверие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C1D62EC-E702-4E78-B44B-BC84059BFA16}"/>
              </a:ext>
            </a:extLst>
          </p:cNvPr>
          <p:cNvSpPr>
            <a:spLocks noGrp="1"/>
          </p:cNvSpPr>
          <p:nvPr/>
        </p:nvSpPr>
        <p:spPr>
          <a:xfrm>
            <a:off x="3752850" y="404812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профили, отзывы, жалобы, роли и блокировки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D4862CD-2C7F-48EA-8FFA-95C4F8B6CFF5}"/>
              </a:ext>
            </a:extLst>
          </p:cNvPr>
          <p:cNvSpPr>
            <a:spLocks noGrp="1"/>
          </p:cNvSpPr>
          <p:nvPr/>
        </p:nvSpPr>
        <p:spPr>
          <a:xfrm>
            <a:off x="819150" y="4648200"/>
            <a:ext cx="27241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341BE41-DB54-45E8-AE6E-347AEB08A476}"/>
              </a:ext>
            </a:extLst>
          </p:cNvPr>
          <p:cNvSpPr>
            <a:spLocks noGrp="1"/>
          </p:cNvSpPr>
          <p:nvPr/>
        </p:nvSpPr>
        <p:spPr>
          <a:xfrm>
            <a:off x="3543300" y="4648200"/>
            <a:ext cx="6858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05EA06A-6F9F-44AA-B402-A7F75E12BA56}"/>
              </a:ext>
            </a:extLst>
          </p:cNvPr>
          <p:cNvSpPr>
            <a:spLocks noGrp="1"/>
          </p:cNvSpPr>
          <p:nvPr/>
        </p:nvSpPr>
        <p:spPr>
          <a:xfrm>
            <a:off x="990600" y="4791075"/>
            <a:ext cx="2266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Показать как продукт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F48F31B-348E-4A81-8D99-4B2644A78AF1}"/>
              </a:ext>
            </a:extLst>
          </p:cNvPr>
          <p:cNvSpPr>
            <a:spLocks noGrp="1"/>
          </p:cNvSpPr>
          <p:nvPr/>
        </p:nvSpPr>
        <p:spPr>
          <a:xfrm>
            <a:off x="3752850" y="4791075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русифицированный UI, Docker Compose, frontend + backend + DB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F346AF9-71A1-40DB-B6F9-6FB2B3352D36}"/>
              </a:ext>
            </a:extLst>
          </p:cNvPr>
          <p:cNvSpPr>
            <a:spLocks noGrp="1"/>
          </p:cNvSpPr>
          <p:nvPr/>
        </p:nvSpPr>
        <p:spPr>
          <a:xfrm>
            <a:off x="1009650" y="5657850"/>
            <a:ext cx="885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05A12B7-70C3-48D0-BFFA-EA1426C6E974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4B7F080-2426-4475-ABA5-BC73E1B5F77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9671310-FAA1-48FB-A768-D3FBBB45290F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142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75623F-1C5A-4408-9222-E9951C301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051D81F5-62AD-463A-8A81-4FE1CF5BD044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895BE3D2-ED96-4938-A479-28A315A77712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РОЛИ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3A782E-D0E8-4609-B5AD-8137ADE7513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Три роли покрывают полный цикл площадки.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D0B895-AAED-41F6-9A4E-F2A36BD7AC8A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2990850" cy="2381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558506-7761-4F2A-8CE7-54F285AC3155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Заказчик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622B5F-3A7D-4383-B317-F470629721AB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2286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создает задания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выбирает исполнителя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оставляет отзыв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подает жалобу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898782D-FACB-4FA0-8D62-63AA0492AC31}"/>
              </a:ext>
            </a:extLst>
          </p:cNvPr>
          <p:cNvSpPr>
            <a:spLocks noGrp="1"/>
          </p:cNvSpPr>
          <p:nvPr/>
        </p:nvSpPr>
        <p:spPr>
          <a:xfrm>
            <a:off x="4400550" y="2381250"/>
            <a:ext cx="2990850" cy="2381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077C061-A871-44BB-9ED2-D6ECB151A14F}"/>
              </a:ext>
            </a:extLst>
          </p:cNvPr>
          <p:cNvSpPr>
            <a:spLocks noGrp="1"/>
          </p:cNvSpPr>
          <p:nvPr/>
        </p:nvSpPr>
        <p:spPr>
          <a:xfrm>
            <a:off x="4629150" y="2647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Исполнитель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053145-2B21-4A60-ACE3-6AA1E8142753}"/>
              </a:ext>
            </a:extLst>
          </p:cNvPr>
          <p:cNvSpPr>
            <a:spLocks noGrp="1"/>
          </p:cNvSpPr>
          <p:nvPr/>
        </p:nvSpPr>
        <p:spPr>
          <a:xfrm>
            <a:off x="4629150" y="3105150"/>
            <a:ext cx="2286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ищет задания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оставляет отклики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ведет профиль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получает репутацию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80AEB23-62AA-4AE6-B17E-AB38AC66647D}"/>
              </a:ext>
            </a:extLst>
          </p:cNvPr>
          <p:cNvSpPr>
            <a:spLocks noGrp="1"/>
          </p:cNvSpPr>
          <p:nvPr/>
        </p:nvSpPr>
        <p:spPr>
          <a:xfrm>
            <a:off x="7981950" y="2381250"/>
            <a:ext cx="2990850" cy="23812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EA18E2-B509-4EF8-8196-AE9FB5CDBEBB}"/>
              </a:ext>
            </a:extLst>
          </p:cNvPr>
          <p:cNvSpPr>
            <a:spLocks noGrp="1"/>
          </p:cNvSpPr>
          <p:nvPr/>
        </p:nvSpPr>
        <p:spPr>
          <a:xfrm>
            <a:off x="8210550" y="2647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Администратор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C9288DD-F56D-4F4D-9A49-C990C2EBC8FE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286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видит пользователей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обрабатывает жалобы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блокирует нарушителей</a:t>
            </a:r>
          </a:p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удаляет спорные посты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63BAC1-93D1-4A39-B9BE-46F3863C4CB5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Такой ролевой каркас делает продукт законченным: есть не только “публикация”, но и эксплуатация площадки.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B95D140-A640-4FA7-84A8-83EA1A48077C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F8923F1-EF5F-43DF-9657-77AB9937A90C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EA5F964-AD04-4181-A513-CCB6F21F999C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842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BF89CD4-B2F9-4A51-9D8F-AD9D53E9D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288166D7-4476-4B77-9612-32745BCF72D4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D833A5E7-E6F0-4FCA-9B93-8133A8B1EFBB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ПОЛЬЗОВАТЕЛЬСКИЙ СЦЕНАРИЙ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7C8C27-6C4E-454C-8B64-DFF9CB2EDFD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Один заказ проходит понятный путь от публикации до результата.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084FAA-F4B8-4EE2-9CCC-7577D45FD381}"/>
              </a:ext>
            </a:extLst>
          </p:cNvPr>
          <p:cNvSpPr>
            <a:spLocks noGrp="1"/>
          </p:cNvSpPr>
          <p:nvPr/>
        </p:nvSpPr>
        <p:spPr>
          <a:xfrm>
            <a:off x="1276350" y="3200400"/>
            <a:ext cx="9124950" cy="9525"/>
          </a:xfrm>
          <a:prstGeom prst="rect">
            <a:avLst/>
          </a:prstGeom>
          <a:solidFill>
            <a:srgbClr val="CFC8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6BD6C3-9818-4E28-B7EC-5B21B1702877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762000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0AA33DD-AD52-4D9D-8470-C10A59851571}"/>
              </a:ext>
            </a:extLst>
          </p:cNvPr>
          <p:cNvSpPr>
            <a:spLocks noGrp="1"/>
          </p:cNvSpPr>
          <p:nvPr/>
        </p:nvSpPr>
        <p:spPr>
          <a:xfrm>
            <a:off x="8763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FC0B14-D34A-4A85-9E2F-F922C929D64E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Создать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C16B91-7A77-41A5-B638-AB304325C88B}"/>
              </a:ext>
            </a:extLst>
          </p:cNvPr>
          <p:cNvSpPr>
            <a:spLocks noGrp="1"/>
          </p:cNvSpPr>
          <p:nvPr/>
        </p:nvSpPr>
        <p:spPr>
          <a:xfrm>
            <a:off x="5143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описание, категория, бюджет, контакт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D8F7B9E-DD50-4B69-B9D9-1382A624E5AB}"/>
              </a:ext>
            </a:extLst>
          </p:cNvPr>
          <p:cNvSpPr>
            <a:spLocks noGrp="1"/>
          </p:cNvSpPr>
          <p:nvPr/>
        </p:nvSpPr>
        <p:spPr>
          <a:xfrm>
            <a:off x="3086100" y="2800350"/>
            <a:ext cx="76200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11778FB-5CB6-4B9F-A4E6-266EDAD69C00}"/>
              </a:ext>
            </a:extLst>
          </p:cNvPr>
          <p:cNvSpPr>
            <a:spLocks noGrp="1"/>
          </p:cNvSpPr>
          <p:nvPr/>
        </p:nvSpPr>
        <p:spPr>
          <a:xfrm>
            <a:off x="30861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2FAF07-B749-487C-8292-712CF794D44D}"/>
              </a:ext>
            </a:extLst>
          </p:cNvPr>
          <p:cNvSpPr>
            <a:spLocks noGrp="1"/>
          </p:cNvSpPr>
          <p:nvPr/>
        </p:nvSpPr>
        <p:spPr>
          <a:xfrm>
            <a:off x="29718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Найти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02F0F3-37F0-401B-9C90-D2AA7358DD89}"/>
              </a:ext>
            </a:extLst>
          </p:cNvPr>
          <p:cNvSpPr>
            <a:spLocks noGrp="1"/>
          </p:cNvSpPr>
          <p:nvPr/>
        </p:nvSpPr>
        <p:spPr>
          <a:xfrm>
            <a:off x="27241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каталог, поиск, фильтры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068BF6-1C27-4BFA-BE9A-DB789553DBB2}"/>
              </a:ext>
            </a:extLst>
          </p:cNvPr>
          <p:cNvSpPr>
            <a:spLocks noGrp="1"/>
          </p:cNvSpPr>
          <p:nvPr/>
        </p:nvSpPr>
        <p:spPr>
          <a:xfrm>
            <a:off x="5295900" y="2800350"/>
            <a:ext cx="762000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F54DB6-DF8A-49E1-B65A-01970E1272E2}"/>
              </a:ext>
            </a:extLst>
          </p:cNvPr>
          <p:cNvSpPr>
            <a:spLocks noGrp="1"/>
          </p:cNvSpPr>
          <p:nvPr/>
        </p:nvSpPr>
        <p:spPr>
          <a:xfrm>
            <a:off x="52959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77AB9A-AF4E-43DB-BF6E-AB2F80317E1B}"/>
              </a:ext>
            </a:extLst>
          </p:cNvPr>
          <p:cNvSpPr>
            <a:spLocks noGrp="1"/>
          </p:cNvSpPr>
          <p:nvPr/>
        </p:nvSpPr>
        <p:spPr>
          <a:xfrm>
            <a:off x="51816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Откликнуться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1792D66-8F1F-4BA4-A48A-C920E46BAF7B}"/>
              </a:ext>
            </a:extLst>
          </p:cNvPr>
          <p:cNvSpPr>
            <a:spLocks noGrp="1"/>
          </p:cNvSpPr>
          <p:nvPr/>
        </p:nvSpPr>
        <p:spPr>
          <a:xfrm>
            <a:off x="49339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исполнитель пишет предложение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9FCAF22-8B41-4C91-97DD-6A0B922DB842}"/>
              </a:ext>
            </a:extLst>
          </p:cNvPr>
          <p:cNvSpPr>
            <a:spLocks noGrp="1"/>
          </p:cNvSpPr>
          <p:nvPr/>
        </p:nvSpPr>
        <p:spPr>
          <a:xfrm>
            <a:off x="7505700" y="2800350"/>
            <a:ext cx="762000" cy="762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31C5EC-DD64-4B4B-80D9-43D3964006E5}"/>
              </a:ext>
            </a:extLst>
          </p:cNvPr>
          <p:cNvSpPr>
            <a:spLocks noGrp="1"/>
          </p:cNvSpPr>
          <p:nvPr/>
        </p:nvSpPr>
        <p:spPr>
          <a:xfrm>
            <a:off x="75057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0FDE2FF-4C8E-46FF-A44A-7FC3B6B763AF}"/>
              </a:ext>
            </a:extLst>
          </p:cNvPr>
          <p:cNvSpPr>
            <a:spLocks noGrp="1"/>
          </p:cNvSpPr>
          <p:nvPr/>
        </p:nvSpPr>
        <p:spPr>
          <a:xfrm>
            <a:off x="73914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Принять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94C82D7-A89C-41CE-BDDE-EF02365ED576}"/>
              </a:ext>
            </a:extLst>
          </p:cNvPr>
          <p:cNvSpPr>
            <a:spLocks noGrp="1"/>
          </p:cNvSpPr>
          <p:nvPr/>
        </p:nvSpPr>
        <p:spPr>
          <a:xfrm>
            <a:off x="71437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заказчик выбирает исполнителя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D76EBBB-E4F4-48B4-AD6F-1B2D4A266E16}"/>
              </a:ext>
            </a:extLst>
          </p:cNvPr>
          <p:cNvSpPr>
            <a:spLocks noGrp="1"/>
          </p:cNvSpPr>
          <p:nvPr/>
        </p:nvSpPr>
        <p:spPr>
          <a:xfrm>
            <a:off x="9715500" y="2800350"/>
            <a:ext cx="762000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C33C4E2-0186-4A8A-85A2-AB75151EBCBA}"/>
              </a:ext>
            </a:extLst>
          </p:cNvPr>
          <p:cNvSpPr>
            <a:spLocks noGrp="1"/>
          </p:cNvSpPr>
          <p:nvPr/>
        </p:nvSpPr>
        <p:spPr>
          <a:xfrm>
            <a:off x="9715500" y="2981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D5CE099-3BE6-48EC-B63A-05875F856F6B}"/>
              </a:ext>
            </a:extLst>
          </p:cNvPr>
          <p:cNvSpPr>
            <a:spLocks noGrp="1"/>
          </p:cNvSpPr>
          <p:nvPr/>
        </p:nvSpPr>
        <p:spPr>
          <a:xfrm>
            <a:off x="9601200" y="39052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Завершить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91DDE0C-A9DE-45FE-9C0E-185C95377F1A}"/>
              </a:ext>
            </a:extLst>
          </p:cNvPr>
          <p:cNvSpPr>
            <a:spLocks noGrp="1"/>
          </p:cNvSpPr>
          <p:nvPr/>
        </p:nvSpPr>
        <p:spPr>
          <a:xfrm>
            <a:off x="9353550" y="4229100"/>
            <a:ext cx="1600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статус, отзыв, профиль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B73151C-0501-4C02-9C8F-F3BBD894F948}"/>
              </a:ext>
            </a:extLst>
          </p:cNvPr>
          <p:cNvSpPr>
            <a:spLocks noGrp="1"/>
          </p:cNvSpPr>
          <p:nvPr/>
        </p:nvSpPr>
        <p:spPr>
          <a:xfrm>
            <a:off x="1333500" y="5410200"/>
            <a:ext cx="885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Сценарий специально линейный: комиссия может пройти его во время защиты без дополнительных объяснений и ручных подготовок.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5E75CC1-1953-49F1-8C21-C1929777F54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F72D502-ADD9-46F5-A775-D0047571995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38BD30B-1FF6-4F08-B50F-B90B8441E52A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701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81314B1-FD54-4FAB-9667-869757D02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B6225F43-9167-4A5A-BD93-CA4D97F79D33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167F0196-EFF5-4CE0-A6B9-40D3F72E5895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ЭКРАН ПРОДУКТА / КАТАЛОГ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8F4E7C-14FB-435B-A3D2-7B2B23E8A8D5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3524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Каталог делает спрос видимым и управляемым.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04C19C-3707-4E4B-A47B-8B33EC0B8E04}"/>
              </a:ext>
            </a:extLst>
          </p:cNvPr>
          <p:cNvSpPr>
            <a:spLocks noGrp="1"/>
          </p:cNvSpPr>
          <p:nvPr/>
        </p:nvSpPr>
        <p:spPr>
          <a:xfrm>
            <a:off x="4686300" y="704850"/>
            <a:ext cx="6324600" cy="4010025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25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783366"/>
            <a:ext cx="6172200" cy="385299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D5D44A7-E332-4F36-AA11-30C53D11E365}"/>
              </a:ext>
            </a:extLst>
          </p:cNvPr>
          <p:cNvSpPr>
            <a:spLocks noGrp="1"/>
          </p:cNvSpPr>
          <p:nvPr/>
        </p:nvSpPr>
        <p:spPr>
          <a:xfrm>
            <a:off x="4762500" y="4772025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Каталог заданий без обрезки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775B197-24B7-42B8-9190-857A1A025B67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3238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На экране видно основную ценность: задания можно не искать в переписке, а фильтровать и открывать как карточки.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0EEB83E-2F5F-4467-B238-8E2C09568B45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20F0F6C-97AC-4CE2-B83E-0F06D1B4247A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поиск по названию и описанию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331A6CC-F954-475D-991F-EA78E173CE60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90F193-53BA-42F7-A58A-8D748B31109A}"/>
              </a:ext>
            </a:extLst>
          </p:cNvPr>
          <p:cNvSpPr>
            <a:spLocks noGrp="1"/>
          </p:cNvSpPr>
          <p:nvPr/>
        </p:nvSpPr>
        <p:spPr>
          <a:xfrm>
            <a:off x="933450" y="35433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фильтр по предмету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12ED164-6E79-47D6-9A0B-AED966D3C678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564FF51-12EE-4D94-9EF0-70AD4DF320E7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диапазон бюджета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50D143-2273-434D-8EF4-275856929279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21FF28-5640-4BC0-8711-896008792D28}"/>
              </a:ext>
            </a:extLst>
          </p:cNvPr>
          <p:cNvSpPr>
            <a:spLocks noGrp="1"/>
          </p:cNvSpPr>
          <p:nvPr/>
        </p:nvSpPr>
        <p:spPr>
          <a:xfrm>
            <a:off x="933450" y="44196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сортировка по новизне и цене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B41ECB9-7548-4677-93E4-A1A49C67992F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3A7C445-2614-4FE4-8CB5-179CD6C2E7AB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http://localhost:5173/posts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E866849-0A50-45A3-B1CA-EA24A2951F7B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26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9831831-E012-4035-B2EE-B8B66EA145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76932DD1-32D3-4C82-BCC7-C091337590F2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C89B6339-6C7F-4294-BB84-625E705D91D1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ЭКРАН ПРОДУКТА / СОЗДАНИЕ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E5F73F-E03E-44E6-9695-9475110494D9}"/>
              </a:ext>
            </a:extLst>
          </p:cNvPr>
          <p:cNvSpPr>
            <a:spLocks noGrp="1"/>
          </p:cNvSpPr>
          <p:nvPr/>
        </p:nvSpPr>
        <p:spPr>
          <a:xfrm>
            <a:off x="609599" y="762000"/>
            <a:ext cx="4472763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Создание заказа не ограничивает пользователя заранее заданными предметами.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315D90-D854-427E-9E5C-DE09AF83E500}"/>
              </a:ext>
            </a:extLst>
          </p:cNvPr>
          <p:cNvSpPr>
            <a:spLocks noGrp="1"/>
          </p:cNvSpPr>
          <p:nvPr/>
        </p:nvSpPr>
        <p:spPr>
          <a:xfrm>
            <a:off x="5276850" y="742950"/>
            <a:ext cx="5924550" cy="375285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25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55303" y="819150"/>
            <a:ext cx="5767644" cy="360045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A476A2-F1FA-4AD2-9DF3-FA993A29C434}"/>
              </a:ext>
            </a:extLst>
          </p:cNvPr>
          <p:cNvSpPr>
            <a:spLocks noGrp="1"/>
          </p:cNvSpPr>
          <p:nvPr/>
        </p:nvSpPr>
        <p:spPr>
          <a:xfrm>
            <a:off x="5353050" y="4552950"/>
            <a:ext cx="577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Форма публикации задания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06ABECA-8D80-4FFD-B888-AFAD74495E11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3733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Форма собирает все, что нужно для старта работы: задачу, описание, предмет, бюджет, контакт и вложение.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A9E86F-44C1-4D79-894D-81BDB5EB586E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FA6BF2-B57F-404A-BCEC-0E8A44FFD50C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категории можно вводить вручную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FDD04B-119F-48A2-9F48-4EBBA71BCC1C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386DD97-7886-471B-B673-18F3A411B6DB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старые категории остаются подсказками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5FD183-2A24-4F3C-8E63-5C7FC7A9932F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E5A002-45AA-4B12-8C70-C7783563A3F4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картинка помогает приложить условия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5BA61E0-ADEA-489A-B904-B8A1BB6C240D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AFD770F-D578-4D4D-AD73-D3C3BCE650D0}"/>
              </a:ext>
            </a:extLst>
          </p:cNvPr>
          <p:cNvSpPr>
            <a:spLocks noGrp="1"/>
          </p:cNvSpPr>
          <p:nvPr/>
        </p:nvSpPr>
        <p:spPr>
          <a:xfrm>
            <a:off x="933450" y="4381500"/>
            <a:ext cx="3333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валидация не дает создать пустой заказ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CA51E-52A6-4383-8873-0E7DA9D378E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E63234-C65F-42A8-B6A6-8E7C2D2DDD7D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модалка создания задания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3D00E5B-3FD6-4314-9C7F-03684D527456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253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003B5E1-D7BE-44E4-9992-FB9FF604FA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79505DC1-2B11-4055-9233-2D64B70C25A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1DA11379-915B-457A-B969-1991CD4B9642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ЭКРАН ПРОДУКТА / КАРТОЧКА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2C6447-E508-4A44-BA1A-6ACCE96ACF9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3790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Карточка задания хранит контекст сделки.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3D6C24-B674-4469-A68B-00EEFA532025}"/>
              </a:ext>
            </a:extLst>
          </p:cNvPr>
          <p:cNvSpPr>
            <a:spLocks noGrp="1"/>
          </p:cNvSpPr>
          <p:nvPr/>
        </p:nvSpPr>
        <p:spPr>
          <a:xfrm>
            <a:off x="4876800" y="723900"/>
            <a:ext cx="6324600" cy="4010025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25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802416"/>
            <a:ext cx="6172200" cy="385299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0FAF41-16AF-402B-B624-00DF2232E752}"/>
              </a:ext>
            </a:extLst>
          </p:cNvPr>
          <p:cNvSpPr>
            <a:spLocks noGrp="1"/>
          </p:cNvSpPr>
          <p:nvPr/>
        </p:nvSpPr>
        <p:spPr>
          <a:xfrm>
            <a:off x="4953000" y="4791075"/>
            <a:ext cx="617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Страница задания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00ED58-3E94-4A4D-8E01-61F5B71023DD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35433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Это уже не просто текст объявления: карточка показывает автора, город, категорию, статус, депозит/сумму, действия и отклики.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145983-FC59-4FE4-A7D2-DD1CAFB34E87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0AC52B7-2FBD-45E7-8750-B069B11A41F6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открытость статуса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5EF1C2-84C8-492D-B675-9CDF417E5AA3}"/>
              </a:ext>
            </a:extLst>
          </p:cNvPr>
          <p:cNvSpPr>
            <a:spLocks noGrp="1"/>
          </p:cNvSpPr>
          <p:nvPr/>
        </p:nvSpPr>
        <p:spPr>
          <a:xfrm>
            <a:off x="742950" y="35814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1A36F3-FEF8-49FF-A44D-B1555C587617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связь с публичным профилем автора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288A11A-91F1-485F-8192-CFAA02708E2A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66675" cy="66675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DE6320C-A269-4912-81A7-A3F7788B4338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отклики и выбор исполнителя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12E2516-4FDB-4527-A0A7-2F04DB09640C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66675" cy="666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64C95C3-EFC3-4ECF-8BF4-747AF29C0AC7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жалоба и модерация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4E70D4A-5923-4FF8-9913-9585ACE72C2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30A6028-309C-432A-837E-7C30DFBFDFF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страница задания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E050D41-6879-409C-A80D-3FC647C8E2EF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5658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E9E2F22-BB8D-4072-A85D-A56CD76C3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5124551C-0839-490F-BB53-591BD6720ABA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3C938377-66DB-4CA5-BEB5-959159689A2A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АККАУНТ И ПОВТОРНОЕ ИСПОЛЬЗОВАНИЕ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0246601-0059-4B65-A00F-30586BE7438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Профиль и кабинет делают пользователя постоянным участником площадки.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E8CD00-45C9-43BE-A620-109FBD8D3225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72050" cy="316230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20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1962767"/>
            <a:ext cx="4819650" cy="300866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5764B6-8E45-419E-AF08-264696C3BD52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Личный кабинет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D172DC-7368-4CCA-B2FA-F015E70CCF84}"/>
              </a:ext>
            </a:extLst>
          </p:cNvPr>
          <p:cNvSpPr>
            <a:spLocks noGrp="1"/>
          </p:cNvSpPr>
          <p:nvPr/>
        </p:nvSpPr>
        <p:spPr>
          <a:xfrm>
            <a:off x="6324600" y="1885950"/>
            <a:ext cx="4972050" cy="3162300"/>
          </a:xfrm>
          <a:prstGeom prst="rect">
            <a:avLst/>
          </a:prstGeom>
          <a:solidFill>
            <a:srgbClr val="101116"/>
          </a:solidFill>
          <a:ln w="9525">
            <a:solidFill>
              <a:srgbClr val="101116"/>
            </a:solidFill>
            <a:prstDash val="solid"/>
          </a:ln>
        </p:spPr>
      </p:sp>
      <p:pic>
        <p:nvPicPr>
          <p:cNvPr id="23" name="Рисунок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00800" y="1962767"/>
            <a:ext cx="4819650" cy="3008665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C1B69A6-27A6-4D21-AC5F-4E0BB91830D0}"/>
              </a:ext>
            </a:extLst>
          </p:cNvPr>
          <p:cNvSpPr>
            <a:spLocks noGrp="1"/>
          </p:cNvSpPr>
          <p:nvPr/>
        </p:nvSpPr>
        <p:spPr>
          <a:xfrm>
            <a:off x="6400800" y="510540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Профиль / резюме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6A65C12-424E-44EC-BCCD-4A53438ADC41}"/>
              </a:ext>
            </a:extLst>
          </p:cNvPr>
          <p:cNvSpPr>
            <a:spLocks noGrp="1"/>
          </p:cNvSpPr>
          <p:nvPr/>
        </p:nvSpPr>
        <p:spPr>
          <a:xfrm>
            <a:off x="1162050" y="54292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Кабинет показывает собственные задания и отклики. Профиль собирает город, навыки, портфолио, контакты и отзывы.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83475EC-456D-4E44-B27A-9DB99E93965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76FB01E-190E-4A94-ACAB-FFB783F3F33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/dashboard и /profile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36CD0F1-88B5-4C37-943F-D95296CC91F8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803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EB143B8-FF6A-43FF-974C-0720AAE12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EA1F14D8-53C0-4781-A290-F45B9AE6FF6B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F35CFFC3-FA55-4DF7-9E40-67DCD2204EDF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ФУНКЦИОНАЛЬНЫЙ ОБЪЕМ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324493-45D4-4B53-BEFA-E23BDF8863A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76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Финальный продукт состоит из связанных модулей, а не набора разрозненных страниц.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DB26FB-0C75-474C-A2B3-A44F9F804865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9285EE-2179-4D34-8CE6-E40B69D5AE48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1C222A5-0E08-4A29-9DA5-883615BFFA20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регистрация, вход, JWT, роли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5C4A04B-3BC2-43F9-8459-6FDD573BE4D7}"/>
              </a:ext>
            </a:extLst>
          </p:cNvPr>
          <p:cNvSpPr>
            <a:spLocks noGrp="1"/>
          </p:cNvSpPr>
          <p:nvPr/>
        </p:nvSpPr>
        <p:spPr>
          <a:xfrm>
            <a:off x="4362450" y="232410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2D0BD0-B03D-41F0-820A-39CF6F37C19F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AD3A7C-6024-4DB8-BEC9-706B0E3C66BB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создание, редактирование, удаление, статусы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A1B523-2243-4C70-A1CE-9189FEDECDCE}"/>
              </a:ext>
            </a:extLst>
          </p:cNvPr>
          <p:cNvSpPr>
            <a:spLocks noGrp="1"/>
          </p:cNvSpPr>
          <p:nvPr/>
        </p:nvSpPr>
        <p:spPr>
          <a:xfrm>
            <a:off x="7867650" y="232410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8CF6B83-6A31-4B4E-B57B-ADDBD6DE29FB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DB205B6-AAC7-45E8-827F-4925FBF3DBC2}"/>
              </a:ext>
            </a:extLst>
          </p:cNvPr>
          <p:cNvSpPr>
            <a:spLocks noGrp="1"/>
          </p:cNvSpPr>
          <p:nvPr/>
        </p:nvSpPr>
        <p:spPr>
          <a:xfrm>
            <a:off x="8058150" y="28384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поиск, фильтры, сортировка, категории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A76068-9A2D-4871-9A0C-76AC7B7BDC49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31939E0-36FD-45DB-AB27-6687589219FA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Offers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2371938-F2E9-420A-91DD-DC0CAA97B88B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отклики, принятие исполнителя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A049828-52AA-424D-83F4-679892665E7E}"/>
              </a:ext>
            </a:extLst>
          </p:cNvPr>
          <p:cNvSpPr>
            <a:spLocks noGrp="1"/>
          </p:cNvSpPr>
          <p:nvPr/>
        </p:nvSpPr>
        <p:spPr>
          <a:xfrm>
            <a:off x="4362450" y="367665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B61C9C8-40A8-4728-AEBE-15ECC34B6FD6}"/>
              </a:ext>
            </a:extLst>
          </p:cNvPr>
          <p:cNvSpPr>
            <a:spLocks noGrp="1"/>
          </p:cNvSpPr>
          <p:nvPr/>
        </p:nvSpPr>
        <p:spPr>
          <a:xfrm>
            <a:off x="4552950" y="3848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1E2CA52-A99A-43B9-BDEF-0F76C920710A}"/>
              </a:ext>
            </a:extLst>
          </p:cNvPr>
          <p:cNvSpPr>
            <a:spLocks noGrp="1"/>
          </p:cNvSpPr>
          <p:nvPr/>
        </p:nvSpPr>
        <p:spPr>
          <a:xfrm>
            <a:off x="4552950" y="41910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резюме, навыки, портфолио, отзывы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B6B9E8E-CE0B-4D41-A9E4-04E81515E622}"/>
              </a:ext>
            </a:extLst>
          </p:cNvPr>
          <p:cNvSpPr>
            <a:spLocks noGrp="1"/>
          </p:cNvSpPr>
          <p:nvPr/>
        </p:nvSpPr>
        <p:spPr>
          <a:xfrm>
            <a:off x="7867650" y="3676650"/>
            <a:ext cx="29146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83314A8-1ED1-4E18-B115-2DB818322AA6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BDF22D7-04BA-4B5E-9CFB-EA3AE96CBC6A}"/>
              </a:ext>
            </a:extLst>
          </p:cNvPr>
          <p:cNvSpPr>
            <a:spLocks noGrp="1"/>
          </p:cNvSpPr>
          <p:nvPr/>
        </p:nvSpPr>
        <p:spPr>
          <a:xfrm>
            <a:off x="8058150" y="419100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пользователи, жалобы, блокировки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3E57F9B-2646-4EA6-A274-40F5C8892A20}"/>
              </a:ext>
            </a:extLst>
          </p:cNvPr>
          <p:cNvSpPr>
            <a:spLocks noGrp="1"/>
          </p:cNvSpPr>
          <p:nvPr/>
        </p:nvSpPr>
        <p:spPr>
          <a:xfrm>
            <a:off x="1047750" y="5467350"/>
            <a:ext cx="933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A6F9F40-EF27-4438-98CA-F8C8661FC2C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0414D72-FE2A-4BCF-ABBC-6E678ECF3DA2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EB57141-089F-40CE-858F-0752EBBB6AD4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093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ACE3FD3-2CFF-4AA1-B7B1-F6BDA8A9E0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B00F3E46-1B13-4A86-948C-C5497B82738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8B8045FB-C871-424E-9C3F-F1D05830E574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API И БЕЗОПАСНОСТЬ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D9A8DD-15EF-4031-B51B-176B80CD4BE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382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Backend разделяет публичное чтение, авторизованные действия и админ-доступ.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1DC115-0775-4FC9-A45F-9FBC0C402C01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754761-4D93-4714-A993-B26E44E879D8}"/>
              </a:ext>
            </a:extLst>
          </p:cNvPr>
          <p:cNvSpPr>
            <a:spLocks noGrp="1"/>
          </p:cNvSpPr>
          <p:nvPr/>
        </p:nvSpPr>
        <p:spPr>
          <a:xfrm>
            <a:off x="2647950" y="224790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E9EF1C-56FC-41EA-8CF0-481FB5A549B8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18E88B-5D7C-4433-A991-2ADF0AFD3ABA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2F4B848-49E7-4D12-9782-C19F840776E3}"/>
              </a:ext>
            </a:extLst>
          </p:cNvPr>
          <p:cNvSpPr>
            <a:spLocks noGrp="1"/>
          </p:cNvSpPr>
          <p:nvPr/>
        </p:nvSpPr>
        <p:spPr>
          <a:xfrm>
            <a:off x="2857500" y="240982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GET /posts, /categories, /cities, /profiles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0E4B42-2914-442D-9A32-4983021007A4}"/>
              </a:ext>
            </a:extLst>
          </p:cNvPr>
          <p:cNvSpPr>
            <a:spLocks noGrp="1"/>
          </p:cNvSpPr>
          <p:nvPr/>
        </p:nvSpPr>
        <p:spPr>
          <a:xfrm>
            <a:off x="7810500" y="240982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можно смотреть без входа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D749AE2-D0D3-40B9-B64B-1FC9EE5C0A17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F64547-F287-4A37-9CF0-79DC47C990BA}"/>
              </a:ext>
            </a:extLst>
          </p:cNvPr>
          <p:cNvSpPr>
            <a:spLocks noGrp="1"/>
          </p:cNvSpPr>
          <p:nvPr/>
        </p:nvSpPr>
        <p:spPr>
          <a:xfrm>
            <a:off x="2647950" y="302895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63EB8EB-4805-4B59-85E9-1179A837CF5C}"/>
              </a:ext>
            </a:extLst>
          </p:cNvPr>
          <p:cNvSpPr>
            <a:spLocks noGrp="1"/>
          </p:cNvSpPr>
          <p:nvPr/>
        </p:nvSpPr>
        <p:spPr>
          <a:xfrm>
            <a:off x="7600950" y="302895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B0696F-1E04-46A0-B82D-279C28A6CA75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87ECFC3-E987-4CE4-929E-42FB8DF3C54D}"/>
              </a:ext>
            </a:extLst>
          </p:cNvPr>
          <p:cNvSpPr>
            <a:spLocks noGrp="1"/>
          </p:cNvSpPr>
          <p:nvPr/>
        </p:nvSpPr>
        <p:spPr>
          <a:xfrm>
            <a:off x="2857500" y="319087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POST /auth/login, /auth/register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7B6595F-194A-4E96-8BDB-D547682335B2}"/>
              </a:ext>
            </a:extLst>
          </p:cNvPr>
          <p:cNvSpPr>
            <a:spLocks noGrp="1"/>
          </p:cNvSpPr>
          <p:nvPr/>
        </p:nvSpPr>
        <p:spPr>
          <a:xfrm>
            <a:off x="7810500" y="31908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JWT-токен для сессии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022AB33-8A1E-42C1-A0BE-E371B106E6BE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585722-0117-4835-9971-CD746081FE1C}"/>
              </a:ext>
            </a:extLst>
          </p:cNvPr>
          <p:cNvSpPr>
            <a:spLocks noGrp="1"/>
          </p:cNvSpPr>
          <p:nvPr/>
        </p:nvSpPr>
        <p:spPr>
          <a:xfrm>
            <a:off x="2647950" y="381000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67D7C76-1936-4345-B2CB-4256A15682B2}"/>
              </a:ext>
            </a:extLst>
          </p:cNvPr>
          <p:cNvSpPr>
            <a:spLocks noGrp="1"/>
          </p:cNvSpPr>
          <p:nvPr/>
        </p:nvSpPr>
        <p:spPr>
          <a:xfrm>
            <a:off x="7600950" y="381000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05520B0-9A13-40DC-949F-2D9E8C95889F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563C4F3-106E-4731-90A0-42F951F277C7}"/>
              </a:ext>
            </a:extLst>
          </p:cNvPr>
          <p:cNvSpPr>
            <a:spLocks noGrp="1"/>
          </p:cNvSpPr>
          <p:nvPr/>
        </p:nvSpPr>
        <p:spPr>
          <a:xfrm>
            <a:off x="2857500" y="397192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POST/PUT/DELETE /posts, comments, reviews, complaints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1BECCBA-61DA-4C35-BB88-28D5DC84C32E}"/>
              </a:ext>
            </a:extLst>
          </p:cNvPr>
          <p:cNvSpPr>
            <a:spLocks noGrp="1"/>
          </p:cNvSpPr>
          <p:nvPr/>
        </p:nvSpPr>
        <p:spPr>
          <a:xfrm>
            <a:off x="7810500" y="397192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только авторизованный пользователь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BF1AB30-7C48-4615-86B3-654A86C8F3C6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18097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610E6CE-B1B3-45D6-AC66-EF24B489B4B7}"/>
              </a:ext>
            </a:extLst>
          </p:cNvPr>
          <p:cNvSpPr>
            <a:spLocks noGrp="1"/>
          </p:cNvSpPr>
          <p:nvPr/>
        </p:nvSpPr>
        <p:spPr>
          <a:xfrm>
            <a:off x="2647950" y="4591050"/>
            <a:ext cx="495300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0C2C0C9-1603-4F6F-A643-4DFA0CCEF761}"/>
              </a:ext>
            </a:extLst>
          </p:cNvPr>
          <p:cNvSpPr>
            <a:spLocks noGrp="1"/>
          </p:cNvSpPr>
          <p:nvPr/>
        </p:nvSpPr>
        <p:spPr>
          <a:xfrm>
            <a:off x="7600950" y="4591050"/>
            <a:ext cx="3143250" cy="53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3BBEEF2-84D6-4A6A-AACE-7173C3557EA3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D3DF0E4-85D3-4595-AF58-094D47C58B0D}"/>
              </a:ext>
            </a:extLst>
          </p:cNvPr>
          <p:cNvSpPr>
            <a:spLocks noGrp="1"/>
          </p:cNvSpPr>
          <p:nvPr/>
        </p:nvSpPr>
        <p:spPr>
          <a:xfrm>
            <a:off x="2857500" y="4752975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/admin/users, /admin/complaints, ban/unban, delete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6722167-E775-4B76-A28F-23E85A34A002}"/>
              </a:ext>
            </a:extLst>
          </p:cNvPr>
          <p:cNvSpPr>
            <a:spLocks noGrp="1"/>
          </p:cNvSpPr>
          <p:nvPr/>
        </p:nvSpPr>
        <p:spPr>
          <a:xfrm>
            <a:off x="7810500" y="47529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645C"/>
                </a:solidFill>
                <a:latin typeface="Aptos"/>
                <a:ea typeface="Aptos"/>
                <a:cs typeface="Aptos"/>
              </a:rPr>
              <a:t>только роль ADMIN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21CE3A4-E943-42A8-B231-C55778A32183}"/>
              </a:ext>
            </a:extLst>
          </p:cNvPr>
          <p:cNvSpPr>
            <a:spLocks noGrp="1"/>
          </p:cNvSpPr>
          <p:nvPr/>
        </p:nvSpPr>
        <p:spPr>
          <a:xfrm>
            <a:off x="1047750" y="5600700"/>
            <a:ext cx="904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Это делает защиту логичной: можно показать публичный каталог, затем авторизацию, затем действия пользователя и админа.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521E598-AF26-4512-9E7A-25F2B5CAB6A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3DB6104-8CAF-4396-AF4B-18200C4928D9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SecurityConfig и controller mappings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787563E-BF32-49E3-9A84-DB529FEF7C66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023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E4F9919-CED4-4BA8-BBB8-2D19310788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60661D93-82E5-4FA5-AE15-4A6420B27367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06C772B8-E74F-44A3-B248-56920C045491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EFB408-3AF4-4F13-9DDB-4EE623D2D10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Модель данных поддерживает задания, доверие и модерацию.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A420DF-BEF8-4D7E-AD9F-E358D0D59D62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C6014C-C86F-4EDB-A880-EA9E5E2CCD88}"/>
              </a:ext>
            </a:extLst>
          </p:cNvPr>
          <p:cNvSpPr>
            <a:spLocks noGrp="1"/>
          </p:cNvSpPr>
          <p:nvPr/>
        </p:nvSpPr>
        <p:spPr>
          <a:xfrm>
            <a:off x="1181100" y="25431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658DC1-774B-4BC2-8F90-968136278E40}"/>
              </a:ext>
            </a:extLst>
          </p:cNvPr>
          <p:cNvSpPr>
            <a:spLocks noGrp="1"/>
          </p:cNvSpPr>
          <p:nvPr/>
        </p:nvSpPr>
        <p:spPr>
          <a:xfrm>
            <a:off x="3105150" y="23812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B77289C-FB1D-4E76-BAA2-0235D5F0EBD0}"/>
              </a:ext>
            </a:extLst>
          </p:cNvPr>
          <p:cNvSpPr>
            <a:spLocks noGrp="1"/>
          </p:cNvSpPr>
          <p:nvPr/>
        </p:nvSpPr>
        <p:spPr>
          <a:xfrm>
            <a:off x="3276600" y="25431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UserProfile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557766-C0A7-410C-BFFF-22C00B74B681}"/>
              </a:ext>
            </a:extLst>
          </p:cNvPr>
          <p:cNvSpPr>
            <a:spLocks noGrp="1"/>
          </p:cNvSpPr>
          <p:nvPr/>
        </p:nvSpPr>
        <p:spPr>
          <a:xfrm>
            <a:off x="5295900" y="23812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E1A320-DCCF-4682-91C4-7A5DC278DA2F}"/>
              </a:ext>
            </a:extLst>
          </p:cNvPr>
          <p:cNvSpPr>
            <a:spLocks noGrp="1"/>
          </p:cNvSpPr>
          <p:nvPr/>
        </p:nvSpPr>
        <p:spPr>
          <a:xfrm>
            <a:off x="5467350" y="25431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D14F78-4487-4989-8BF5-E7AA08A33890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0E5A142-B7B6-4753-8A9B-CBBD33F3FF22}"/>
              </a:ext>
            </a:extLst>
          </p:cNvPr>
          <p:cNvSpPr>
            <a:spLocks noGrp="1"/>
          </p:cNvSpPr>
          <p:nvPr/>
        </p:nvSpPr>
        <p:spPr>
          <a:xfrm>
            <a:off x="7848600" y="19526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1EC7846-094F-4DB3-B360-A49CD35444A0}"/>
              </a:ext>
            </a:extLst>
          </p:cNvPr>
          <p:cNvSpPr>
            <a:spLocks noGrp="1"/>
          </p:cNvSpPr>
          <p:nvPr/>
        </p:nvSpPr>
        <p:spPr>
          <a:xfrm>
            <a:off x="7677150" y="299085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D56C0CA-456F-4A35-A92D-4DB34B7044A9}"/>
              </a:ext>
            </a:extLst>
          </p:cNvPr>
          <p:cNvSpPr>
            <a:spLocks noGrp="1"/>
          </p:cNvSpPr>
          <p:nvPr/>
        </p:nvSpPr>
        <p:spPr>
          <a:xfrm>
            <a:off x="7848600" y="31527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City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89DC1E-92DC-4D82-B20E-FC82255102A1}"/>
              </a:ext>
            </a:extLst>
          </p:cNvPr>
          <p:cNvSpPr>
            <a:spLocks noGrp="1"/>
          </p:cNvSpPr>
          <p:nvPr/>
        </p:nvSpPr>
        <p:spPr>
          <a:xfrm>
            <a:off x="5295900" y="41910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972979-A7C6-4E89-B507-3063FB611666}"/>
              </a:ext>
            </a:extLst>
          </p:cNvPr>
          <p:cNvSpPr>
            <a:spLocks noGrp="1"/>
          </p:cNvSpPr>
          <p:nvPr/>
        </p:nvSpPr>
        <p:spPr>
          <a:xfrm>
            <a:off x="5467350" y="4352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Comment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0D318EB-70DE-4C58-9AD9-7ECEC5B58B44}"/>
              </a:ext>
            </a:extLst>
          </p:cNvPr>
          <p:cNvSpPr>
            <a:spLocks noGrp="1"/>
          </p:cNvSpPr>
          <p:nvPr/>
        </p:nvSpPr>
        <p:spPr>
          <a:xfrm>
            <a:off x="3105150" y="41910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BED2004-9103-471A-83A4-864630A0BDF2}"/>
              </a:ext>
            </a:extLst>
          </p:cNvPr>
          <p:cNvSpPr>
            <a:spLocks noGrp="1"/>
          </p:cNvSpPr>
          <p:nvPr/>
        </p:nvSpPr>
        <p:spPr>
          <a:xfrm>
            <a:off x="3276600" y="4352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563A01-DA7D-4CDF-9C00-3F77C46657D5}"/>
              </a:ext>
            </a:extLst>
          </p:cNvPr>
          <p:cNvSpPr>
            <a:spLocks noGrp="1"/>
          </p:cNvSpPr>
          <p:nvPr/>
        </p:nvSpPr>
        <p:spPr>
          <a:xfrm>
            <a:off x="7677150" y="4191000"/>
            <a:ext cx="142875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35BC0E0-7125-42CE-BB5C-BBA69713F023}"/>
              </a:ext>
            </a:extLst>
          </p:cNvPr>
          <p:cNvSpPr>
            <a:spLocks noGrp="1"/>
          </p:cNvSpPr>
          <p:nvPr/>
        </p:nvSpPr>
        <p:spPr>
          <a:xfrm>
            <a:off x="7848600" y="435292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Complaint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F4EBC94-D598-486C-A21B-CD831D93DCF8}"/>
              </a:ext>
            </a:extLst>
          </p:cNvPr>
          <p:cNvSpPr>
            <a:spLocks noGrp="1"/>
          </p:cNvSpPr>
          <p:nvPr/>
        </p:nvSpPr>
        <p:spPr>
          <a:xfrm>
            <a:off x="2438400" y="2657475"/>
            <a:ext cx="6667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C936F14-F32C-416F-A2BB-052E1F521DDA}"/>
              </a:ext>
            </a:extLst>
          </p:cNvPr>
          <p:cNvSpPr>
            <a:spLocks noGrp="1"/>
          </p:cNvSpPr>
          <p:nvPr/>
        </p:nvSpPr>
        <p:spPr>
          <a:xfrm>
            <a:off x="4533900" y="2657475"/>
            <a:ext cx="6667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364C64F-11EA-402C-9F78-A6B9BD794BF7}"/>
              </a:ext>
            </a:extLst>
          </p:cNvPr>
          <p:cNvSpPr>
            <a:spLocks noGrp="1"/>
          </p:cNvSpPr>
          <p:nvPr/>
        </p:nvSpPr>
        <p:spPr>
          <a:xfrm>
            <a:off x="6724650" y="2657475"/>
            <a:ext cx="8572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E3C8E2-6E21-4905-8736-48EAC8D3A929}"/>
              </a:ext>
            </a:extLst>
          </p:cNvPr>
          <p:cNvSpPr>
            <a:spLocks noGrp="1"/>
          </p:cNvSpPr>
          <p:nvPr/>
        </p:nvSpPr>
        <p:spPr>
          <a:xfrm>
            <a:off x="6724650" y="4467225"/>
            <a:ext cx="8572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36FC36-E90D-4AFB-9988-E05EE78834F1}"/>
              </a:ext>
            </a:extLst>
          </p:cNvPr>
          <p:cNvSpPr>
            <a:spLocks noGrp="1"/>
          </p:cNvSpPr>
          <p:nvPr/>
        </p:nvSpPr>
        <p:spPr>
          <a:xfrm>
            <a:off x="4533900" y="4467225"/>
            <a:ext cx="666750" cy="9525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E599698-DF13-4061-8995-33BBB9B6353D}"/>
              </a:ext>
            </a:extLst>
          </p:cNvPr>
          <p:cNvSpPr>
            <a:spLocks noGrp="1"/>
          </p:cNvSpPr>
          <p:nvPr/>
        </p:nvSpPr>
        <p:spPr>
          <a:xfrm>
            <a:off x="5962650" y="2933700"/>
            <a:ext cx="9525" cy="1257300"/>
          </a:xfrm>
          <a:prstGeom prst="rect">
            <a:avLst/>
          </a:prstGeom>
          <a:solidFill>
            <a:srgbClr val="DCD6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77DB5ED-2186-4C87-9D25-7715DB588D06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895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User связан с профилем и ролями; Post связан с автором, исполнителем, категорией, городом, откликами, отзывами и жалобами.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22EE549-2D0D-4675-8912-7E49FE51732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DF934F5-8FF0-4AC7-B791-7ED5E5AAC8F3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Источник: backend entity classes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841E795-23E7-4BE4-862B-A8715F52BEEF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40099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772B666-8D5D-4787-84FE-120CE87844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>
              <a:ext uri="{FF2B5EF4-FFF2-40B4-BE49-F238E27FC236}">
                <a16:creationId xmlns:a16="http://schemas.microsoft.com/office/drawing/2014/main" id="{BC865855-1D9B-492B-9E0C-9F25A69887FF}"/>
              </a:ext>
            </a:extLst>
          </p:cNvPr>
          <p:cNvSpPr>
            <a:spLocks noGrp="1"/>
          </p:cNvSpPr>
          <p:nvPr/>
        </p:nvSpPr>
        <p:spPr>
          <a:xfrm>
            <a:off x="609600" y="504825"/>
            <a:ext cx="36195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>
              <a:ext uri="{FF2B5EF4-FFF2-40B4-BE49-F238E27FC236}">
                <a16:creationId xmlns:a16="http://schemas.microsoft.com/office/drawing/2014/main" id="{72ACBB7C-9157-4E07-BFEB-E99404C7C508}"/>
              </a:ext>
            </a:extLst>
          </p:cNvPr>
          <p:cNvSpPr>
            <a:spLocks noGrp="1"/>
          </p:cNvSpPr>
          <p:nvPr/>
        </p:nvSpPr>
        <p:spPr>
          <a:xfrm>
            <a:off x="1085850" y="4000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6864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645C"/>
                </a:solidFill>
                <a:latin typeface="Aptos"/>
                <a:ea typeface="Aptos"/>
                <a:cs typeface="Aptos"/>
              </a:rPr>
              <a:t>ФИНАЛЬНЫЙ ПОКАЗ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61A255-E68C-4051-823B-2DCEA80A137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810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0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000" b="1" dirty="0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Финальный продукт</a:t>
            </a:r>
            <a:endParaRPr sz="3000" b="1" dirty="0">
              <a:solidFill>
                <a:srgbClr val="16161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447D34-4127-4090-962F-C13BB7FA8438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E6DBC1-D7EC-4B21-AF8B-6A45AE4648DD}"/>
              </a:ext>
            </a:extLst>
          </p:cNvPr>
          <p:cNvSpPr>
            <a:spLocks noGrp="1"/>
          </p:cNvSpPr>
          <p:nvPr/>
        </p:nvSpPr>
        <p:spPr>
          <a:xfrm>
            <a:off x="3105150" y="21526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81B489-5E53-428C-BA34-9F29A6B38ED4}"/>
              </a:ext>
            </a:extLst>
          </p:cNvPr>
          <p:cNvSpPr>
            <a:spLocks noGrp="1"/>
          </p:cNvSpPr>
          <p:nvPr/>
        </p:nvSpPr>
        <p:spPr>
          <a:xfrm>
            <a:off x="1028700" y="22955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1. Спрос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8261CC-37A9-4F4B-966A-48C63A2708CE}"/>
              </a:ext>
            </a:extLst>
          </p:cNvPr>
          <p:cNvSpPr>
            <a:spLocks noGrp="1"/>
          </p:cNvSpPr>
          <p:nvPr/>
        </p:nvSpPr>
        <p:spPr>
          <a:xfrm>
            <a:off x="3314700" y="22955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каталог с реальными заданиями, фильтрами, бюджетами и статусами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8D66E82-8E8F-4383-8FCB-468A7F93625C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4E53A20-1C23-4A91-9EC2-2002DCA1967F}"/>
              </a:ext>
            </a:extLst>
          </p:cNvPr>
          <p:cNvSpPr>
            <a:spLocks noGrp="1"/>
          </p:cNvSpPr>
          <p:nvPr/>
        </p:nvSpPr>
        <p:spPr>
          <a:xfrm>
            <a:off x="3105150" y="28765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3E27D31-1DCF-42CD-AA89-255F93895840}"/>
              </a:ext>
            </a:extLst>
          </p:cNvPr>
          <p:cNvSpPr>
            <a:spLocks noGrp="1"/>
          </p:cNvSpPr>
          <p:nvPr/>
        </p:nvSpPr>
        <p:spPr>
          <a:xfrm>
            <a:off x="1028700" y="30194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2. Заказ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567EF5-53FA-4938-9C77-772CAE7D7412}"/>
              </a:ext>
            </a:extLst>
          </p:cNvPr>
          <p:cNvSpPr>
            <a:spLocks noGrp="1"/>
          </p:cNvSpPr>
          <p:nvPr/>
        </p:nvSpPr>
        <p:spPr>
          <a:xfrm>
            <a:off x="3314700" y="30194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создание задачи с кастомной категорией, контактом и вложением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F058C0-62FC-4A23-8F82-0865BAFE6430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0ED589-7090-4E14-8284-1DBB77533315}"/>
              </a:ext>
            </a:extLst>
          </p:cNvPr>
          <p:cNvSpPr>
            <a:spLocks noGrp="1"/>
          </p:cNvSpPr>
          <p:nvPr/>
        </p:nvSpPr>
        <p:spPr>
          <a:xfrm>
            <a:off x="3105150" y="36004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7355339-E3CD-4343-A36D-EC42914EB892}"/>
              </a:ext>
            </a:extLst>
          </p:cNvPr>
          <p:cNvSpPr>
            <a:spLocks noGrp="1"/>
          </p:cNvSpPr>
          <p:nvPr/>
        </p:nvSpPr>
        <p:spPr>
          <a:xfrm>
            <a:off x="1028700" y="37433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3. Сделка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7908B6-B293-4C37-8491-1E18D89E7048}"/>
              </a:ext>
            </a:extLst>
          </p:cNvPr>
          <p:cNvSpPr>
            <a:spLocks noGrp="1"/>
          </p:cNvSpPr>
          <p:nvPr/>
        </p:nvSpPr>
        <p:spPr>
          <a:xfrm>
            <a:off x="3314700" y="37433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карточка: отклики, исполнитель, депозит и статусы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ACD1B8-875A-451D-8061-DFB730F23273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2479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12A732C-7ED5-4E94-9BCF-CEDA601E1D25}"/>
              </a:ext>
            </a:extLst>
          </p:cNvPr>
          <p:cNvSpPr>
            <a:spLocks noGrp="1"/>
          </p:cNvSpPr>
          <p:nvPr/>
        </p:nvSpPr>
        <p:spPr>
          <a:xfrm>
            <a:off x="3105150" y="4324350"/>
            <a:ext cx="68580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CD6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00ACC0-3AC0-4E3F-B0C2-4BEB9978066E}"/>
              </a:ext>
            </a:extLst>
          </p:cNvPr>
          <p:cNvSpPr>
            <a:spLocks noGrp="1"/>
          </p:cNvSpPr>
          <p:nvPr/>
        </p:nvSpPr>
        <p:spPr>
          <a:xfrm>
            <a:off x="1028700" y="44672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4. Доверие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3B922D6-3086-4BC9-B80C-6949248CD8FD}"/>
              </a:ext>
            </a:extLst>
          </p:cNvPr>
          <p:cNvSpPr>
            <a:spLocks noGrp="1"/>
          </p:cNvSpPr>
          <p:nvPr/>
        </p:nvSpPr>
        <p:spPr>
          <a:xfrm>
            <a:off x="3314700" y="4467225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профили, отзывы, жалобы и админ-модерация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6C34AE-4D84-47DD-9BE6-A974FF407FD0}"/>
              </a:ext>
            </a:extLst>
          </p:cNvPr>
          <p:cNvSpPr>
            <a:spLocks noGrp="1"/>
          </p:cNvSpPr>
          <p:nvPr/>
        </p:nvSpPr>
        <p:spPr>
          <a:xfrm>
            <a:off x="1047750" y="5334000"/>
            <a:ext cx="8953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Маршрут защиты: главная → каталог → создание заказа → карточка → отклик → кабинет → профиль → админка. Данные уже заполнены в PostgreSQL.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77685AE-28EB-4905-8E2A-C2669DD64D2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E4DE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B9C1F5E-E251-46BA-A1DA-2A238971E0E2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Studylance / финальный продукт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BC85C1C-6344-42A0-BC8E-188DF8B47201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A85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57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399637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955</Words>
  <Application>Microsoft Macintosh PowerPoint</Application>
  <DocSecurity>0</DocSecurity>
  <PresentationFormat>Широкоэкранный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raskovalov.valya@gmail.com</cp:lastModifiedBy>
  <cp:revision>2</cp:revision>
  <dcterms:created xsi:type="dcterms:W3CDTF">2026-05-26T08:39:50Z</dcterms:created>
  <dcterms:modified xsi:type="dcterms:W3CDTF">2026-05-26T08:51:44Z</dcterms:modified>
</cp:coreProperties>
</file>