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1209067-B6EE-4F12-9107-0368A4FC9A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44D4FA94-0F61-4D94-8B56-28003FF7409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>
              <a:ext uri="{FF2B5EF4-FFF2-40B4-BE49-F238E27FC236}">
                <a16:creationId xmlns:a16="http://schemas.microsoft.com/office/drawing/2014/main" id="{CB25C065-E32C-483D-BBC8-AC399343BE7E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ФИНАЛЬНЫЙ ПОКАЗ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1D8C60-F1C1-4191-AB65-2C9B1888D2D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476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Studylance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712A5D-E47C-4E52-A97D-BC1324D5ED0E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4333875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Маркетплейс учебных заданий, где студент публикует задачу, исполнитель откликается, а весь процесс остается в одном понятном интерфейсе.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5B1750-D081-40C1-94C6-BBA5CCE724F6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3 роли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BA76AD0-8CE5-485F-8B5B-91B566CEE2F9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заказчик, исполнитель и администратор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42AAA3-81A3-4FBC-B933-CE7AB0EC02E9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 поток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40EEFA-5B41-4BAA-8300-3F1694C96E47}"/>
              </a:ext>
            </a:extLst>
          </p:cNvPr>
          <p:cNvSpPr>
            <a:spLocks noGrp="1"/>
          </p:cNvSpPr>
          <p:nvPr/>
        </p:nvSpPr>
        <p:spPr>
          <a:xfrm>
            <a:off x="2724150" y="36957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от публикации задания до результата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77B0CAE-B7CC-424D-99A0-33EE67D589E2}"/>
              </a:ext>
            </a:extLst>
          </p:cNvPr>
          <p:cNvSpPr>
            <a:spLocks noGrp="1"/>
          </p:cNvSpPr>
          <p:nvPr/>
        </p:nvSpPr>
        <p:spPr>
          <a:xfrm>
            <a:off x="5543550" y="895350"/>
            <a:ext cx="5486400" cy="3152775"/>
          </a:xfrm>
          <a:prstGeom prst="rect">
            <a:avLst/>
          </a:prstGeom>
          <a:solidFill>
            <a:srgbClr val="111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rcRect l="30" r="30"/>
          <a:stretch>
            <a:fillRect/>
          </a:stretch>
        </p:blipFill>
        <p:spPr>
          <a:xfrm>
            <a:off x="5619750" y="971550"/>
            <a:ext cx="5334000" cy="3000375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FBEF378-34ED-4506-AAA6-ACF0110D3CCB}"/>
              </a:ext>
            </a:extLst>
          </p:cNvPr>
          <p:cNvSpPr>
            <a:spLocks noGrp="1"/>
          </p:cNvSpPr>
          <p:nvPr/>
        </p:nvSpPr>
        <p:spPr>
          <a:xfrm>
            <a:off x="5619750" y="4124325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Главный экран продукта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E67FF27-C443-4BD4-8706-C909705E3D67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E98C4CB-44B0-4094-8AC2-75FC50B3BA6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Studylance / финальный показ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68E8AD1-83FD-4346-BD8D-499303FD9DC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1004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464D2BF-F665-49CF-A3F4-8CFD4535F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973F0312-3BCB-4C63-BE3A-A114A27E663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EC8326FD-C062-4B3F-A765-A051DD76E6DF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АКТУАЛЬНОСТЬ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BBC0BA-2BEB-4819-9763-BAC95B8B322E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Студенческие задания живут в чатах, где сложно доверять и отслеживать прогресс.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0CED63-2CBE-443E-BD29-251F3D9A83B3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Проблема не в отсутствии спроса, а в отсутствии аккуратного процесса вокруг него.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652113-A0D8-431E-81AB-3FE92D6A63E0}"/>
              </a:ext>
            </a:extLst>
          </p:cNvPr>
          <p:cNvSpPr>
            <a:spLocks noGrp="1"/>
          </p:cNvSpPr>
          <p:nvPr/>
        </p:nvSpPr>
        <p:spPr>
          <a:xfrm>
            <a:off x="876300" y="2619375"/>
            <a:ext cx="38100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203851-BD11-4994-878A-4F02F4A343C7}"/>
              </a:ext>
            </a:extLst>
          </p:cNvPr>
          <p:cNvSpPr>
            <a:spLocks noGrp="1"/>
          </p:cNvSpPr>
          <p:nvPr/>
        </p:nvSpPr>
        <p:spPr>
          <a:xfrm>
            <a:off x="1047750" y="2752725"/>
            <a:ext cx="2066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Запросы теряются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9857729-1AF8-455E-9047-119D252244D7}"/>
              </a:ext>
            </a:extLst>
          </p:cNvPr>
          <p:cNvSpPr>
            <a:spLocks noGrp="1"/>
          </p:cNvSpPr>
          <p:nvPr/>
        </p:nvSpPr>
        <p:spPr>
          <a:xfrm>
            <a:off x="1047750" y="3076575"/>
            <a:ext cx="20669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Объявления уходят вверх в чатах, повторяются и плохо ищутся.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EAD9CD-5C89-400E-A4EA-73C46B15FEB0}"/>
              </a:ext>
            </a:extLst>
          </p:cNvPr>
          <p:cNvSpPr>
            <a:spLocks noGrp="1"/>
          </p:cNvSpPr>
          <p:nvPr/>
        </p:nvSpPr>
        <p:spPr>
          <a:xfrm>
            <a:off x="3676650" y="2619375"/>
            <a:ext cx="38100" cy="1200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097B731-2B80-4504-BF9B-AC73CEC74BD4}"/>
              </a:ext>
            </a:extLst>
          </p:cNvPr>
          <p:cNvSpPr>
            <a:spLocks noGrp="1"/>
          </p:cNvSpPr>
          <p:nvPr/>
        </p:nvSpPr>
        <p:spPr>
          <a:xfrm>
            <a:off x="3848100" y="2752725"/>
            <a:ext cx="2066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Нет статуса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89AF8C2-1D00-4070-913C-7E4201B63314}"/>
              </a:ext>
            </a:extLst>
          </p:cNvPr>
          <p:cNvSpPr>
            <a:spLocks noGrp="1"/>
          </p:cNvSpPr>
          <p:nvPr/>
        </p:nvSpPr>
        <p:spPr>
          <a:xfrm>
            <a:off x="3848100" y="3076575"/>
            <a:ext cx="20669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Непонятно, открыто ли задание, кто взял его в работу и чем все закончилось.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F2981A4-CCF4-4DB0-93B8-78A05C2AD17D}"/>
              </a:ext>
            </a:extLst>
          </p:cNvPr>
          <p:cNvSpPr>
            <a:spLocks noGrp="1"/>
          </p:cNvSpPr>
          <p:nvPr/>
        </p:nvSpPr>
        <p:spPr>
          <a:xfrm>
            <a:off x="6477000" y="2619375"/>
            <a:ext cx="38100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5302C4D-7EA8-4D3A-91AA-0AB1A6C8852A}"/>
              </a:ext>
            </a:extLst>
          </p:cNvPr>
          <p:cNvSpPr>
            <a:spLocks noGrp="1"/>
          </p:cNvSpPr>
          <p:nvPr/>
        </p:nvSpPr>
        <p:spPr>
          <a:xfrm>
            <a:off x="6648450" y="2752725"/>
            <a:ext cx="2066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Слабое доверие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2F27877-9563-4ED3-846F-8B7F2EF51180}"/>
              </a:ext>
            </a:extLst>
          </p:cNvPr>
          <p:cNvSpPr>
            <a:spLocks noGrp="1"/>
          </p:cNvSpPr>
          <p:nvPr/>
        </p:nvSpPr>
        <p:spPr>
          <a:xfrm>
            <a:off x="6648450" y="3076575"/>
            <a:ext cx="20669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Без профиля, отзывов и истории сложно выбрать исполнителя.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DDB593B-A614-4FA9-B407-1FA2168A675E}"/>
              </a:ext>
            </a:extLst>
          </p:cNvPr>
          <p:cNvSpPr>
            <a:spLocks noGrp="1"/>
          </p:cNvSpPr>
          <p:nvPr/>
        </p:nvSpPr>
        <p:spPr>
          <a:xfrm>
            <a:off x="9277350" y="2619375"/>
            <a:ext cx="38100" cy="1200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7ECD3C5-0914-4082-9BB6-5B90B898C460}"/>
              </a:ext>
            </a:extLst>
          </p:cNvPr>
          <p:cNvSpPr>
            <a:spLocks noGrp="1"/>
          </p:cNvSpPr>
          <p:nvPr/>
        </p:nvSpPr>
        <p:spPr>
          <a:xfrm>
            <a:off x="9448800" y="2752725"/>
            <a:ext cx="1781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Модерация вручную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EB6C6E-3CCB-4774-B5BC-F2A756BD46B0}"/>
              </a:ext>
            </a:extLst>
          </p:cNvPr>
          <p:cNvSpPr>
            <a:spLocks noGrp="1"/>
          </p:cNvSpPr>
          <p:nvPr/>
        </p:nvSpPr>
        <p:spPr>
          <a:xfrm>
            <a:off x="9448800" y="3076575"/>
            <a:ext cx="178117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Жалобы, блокировки и спорные ситуации остаются вне системы.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2E121BC-5B3E-47CA-A882-FDE87A2BF84F}"/>
              </a:ext>
            </a:extLst>
          </p:cNvPr>
          <p:cNvSpPr>
            <a:spLocks noGrp="1"/>
          </p:cNvSpPr>
          <p:nvPr/>
        </p:nvSpPr>
        <p:spPr>
          <a:xfrm>
            <a:off x="1562100" y="459105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Studylance собирает этот хаос в одну доску: задача, бюджет, предмет, статус, профиль, отклики и админ-контроль.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E0B14C4-BED7-4471-A1D0-392FA94371CC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0C5C480-12D9-402B-8743-97871FF28EF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Источник: анализ текущих пользовательских сценариев проекта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3B986CB-778B-4BE0-8995-CEF2A9B2AF8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589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74CF15-67E9-42C2-86FB-61F9C7D33B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02C30C74-3D47-4B2D-AC08-F50F46B1180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2135880E-E3AD-4369-A7D0-9C4E5CF94F11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ЦЕЛИ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5B2417-0D5D-4627-8E3C-F54004DA38A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Мы строили не форму объявлений, а минимально полный цикл учебного заказа.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536EC9-E718-4BFF-9A46-4C753DA7F032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Пользователь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8BD2F9-1278-46E5-8C25-EC133BD5FE08}"/>
              </a:ext>
            </a:extLst>
          </p:cNvPr>
          <p:cNvSpPr>
            <a:spLocks noGrp="1"/>
          </p:cNvSpPr>
          <p:nvPr/>
        </p:nvSpPr>
        <p:spPr>
          <a:xfrm>
            <a:off x="3067050" y="1924050"/>
            <a:ext cx="4429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Что нужно сделать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6D9025-57EE-4F5F-8C17-0E51448BA491}"/>
              </a:ext>
            </a:extLst>
          </p:cNvPr>
          <p:cNvSpPr>
            <a:spLocks noGrp="1"/>
          </p:cNvSpPr>
          <p:nvPr/>
        </p:nvSpPr>
        <p:spPr>
          <a:xfrm>
            <a:off x="7496175" y="192405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Зачем это важно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60B878-6308-43F4-BC08-834C12CBF141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190750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4BCB57-E016-44DD-B8CE-D82F42355D79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Заказчик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F2AC2F9-A6AF-472B-970E-078EEFAD22A0}"/>
              </a:ext>
            </a:extLst>
          </p:cNvPr>
          <p:cNvSpPr>
            <a:spLocks noGrp="1"/>
          </p:cNvSpPr>
          <p:nvPr/>
        </p:nvSpPr>
        <p:spPr>
          <a:xfrm>
            <a:off x="3067050" y="2266950"/>
            <a:ext cx="4429125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1CAA08A-95BA-4368-86AB-A79F94D8C1B4}"/>
              </a:ext>
            </a:extLst>
          </p:cNvPr>
          <p:cNvSpPr>
            <a:spLocks noGrp="1"/>
          </p:cNvSpPr>
          <p:nvPr/>
        </p:nvSpPr>
        <p:spPr>
          <a:xfrm>
            <a:off x="3238500" y="2428875"/>
            <a:ext cx="40862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быстро описать задачу, бюджет и контакт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E970DFB-C17F-42FD-BE52-4548E21E2274}"/>
              </a:ext>
            </a:extLst>
          </p:cNvPr>
          <p:cNvSpPr>
            <a:spLocks noGrp="1"/>
          </p:cNvSpPr>
          <p:nvPr/>
        </p:nvSpPr>
        <p:spPr>
          <a:xfrm>
            <a:off x="7496175" y="2266950"/>
            <a:ext cx="3476625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87CE6B6-0860-440B-87AD-E83F5ABC6518}"/>
              </a:ext>
            </a:extLst>
          </p:cNvPr>
          <p:cNvSpPr>
            <a:spLocks noGrp="1"/>
          </p:cNvSpPr>
          <p:nvPr/>
        </p:nvSpPr>
        <p:spPr>
          <a:xfrm>
            <a:off x="7667625" y="2428875"/>
            <a:ext cx="3133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меньше ручных уточнений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E16726C-F530-4540-BB25-AA84581E8538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2190750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7CB3BB4-3564-48F1-ADC9-D9E3D8C2A981}"/>
              </a:ext>
            </a:extLst>
          </p:cNvPr>
          <p:cNvSpPr>
            <a:spLocks noGrp="1"/>
          </p:cNvSpPr>
          <p:nvPr/>
        </p:nvSpPr>
        <p:spPr>
          <a:xfrm>
            <a:off x="1047750" y="34194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Исполнитель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05598F9-84D0-4DF5-9F0C-58BFC8963336}"/>
              </a:ext>
            </a:extLst>
          </p:cNvPr>
          <p:cNvSpPr>
            <a:spLocks noGrp="1"/>
          </p:cNvSpPr>
          <p:nvPr/>
        </p:nvSpPr>
        <p:spPr>
          <a:xfrm>
            <a:off x="3067050" y="3257550"/>
            <a:ext cx="4429125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581FF7A-0BBF-4147-9ABA-F4642FD38471}"/>
              </a:ext>
            </a:extLst>
          </p:cNvPr>
          <p:cNvSpPr>
            <a:spLocks noGrp="1"/>
          </p:cNvSpPr>
          <p:nvPr/>
        </p:nvSpPr>
        <p:spPr>
          <a:xfrm>
            <a:off x="3238500" y="3419475"/>
            <a:ext cx="40862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найти подходящее задание и оставить отклик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EF7FF1-E7CB-426C-8F57-436D1B697FEC}"/>
              </a:ext>
            </a:extLst>
          </p:cNvPr>
          <p:cNvSpPr>
            <a:spLocks noGrp="1"/>
          </p:cNvSpPr>
          <p:nvPr/>
        </p:nvSpPr>
        <p:spPr>
          <a:xfrm>
            <a:off x="7496175" y="3257550"/>
            <a:ext cx="3476625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7BE4788-E0C9-43D6-B634-F4640A375AF3}"/>
              </a:ext>
            </a:extLst>
          </p:cNvPr>
          <p:cNvSpPr>
            <a:spLocks noGrp="1"/>
          </p:cNvSpPr>
          <p:nvPr/>
        </p:nvSpPr>
        <p:spPr>
          <a:xfrm>
            <a:off x="7667625" y="3419475"/>
            <a:ext cx="3133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понятный вход в работу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5F38967-599D-4418-B412-B2DD0C692339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190750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9755E43-2F79-410E-8B9E-8452634ED901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B06C8D9-6AE4-452C-B606-79BA94B22FF4}"/>
              </a:ext>
            </a:extLst>
          </p:cNvPr>
          <p:cNvSpPr>
            <a:spLocks noGrp="1"/>
          </p:cNvSpPr>
          <p:nvPr/>
        </p:nvSpPr>
        <p:spPr>
          <a:xfrm>
            <a:off x="3067050" y="4248150"/>
            <a:ext cx="4429125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4FD8C4-DA63-48F3-BE04-5B2C3E0D9202}"/>
              </a:ext>
            </a:extLst>
          </p:cNvPr>
          <p:cNvSpPr>
            <a:spLocks noGrp="1"/>
          </p:cNvSpPr>
          <p:nvPr/>
        </p:nvSpPr>
        <p:spPr>
          <a:xfrm>
            <a:off x="3238500" y="4410075"/>
            <a:ext cx="40862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видеть пользователей, жалобы и статусы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C59292E-7321-499C-BAFC-4C728BBC8D22}"/>
              </a:ext>
            </a:extLst>
          </p:cNvPr>
          <p:cNvSpPr>
            <a:spLocks noGrp="1"/>
          </p:cNvSpPr>
          <p:nvPr/>
        </p:nvSpPr>
        <p:spPr>
          <a:xfrm>
            <a:off x="7496175" y="4248150"/>
            <a:ext cx="3476625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6B7A51A-C518-48D2-BCF6-40160A92DBCB}"/>
              </a:ext>
            </a:extLst>
          </p:cNvPr>
          <p:cNvSpPr>
            <a:spLocks noGrp="1"/>
          </p:cNvSpPr>
          <p:nvPr/>
        </p:nvSpPr>
        <p:spPr>
          <a:xfrm>
            <a:off x="7667625" y="4410075"/>
            <a:ext cx="3133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контроль качества платформы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1467F62-EE25-48D4-B2F6-064EF851E9FD}"/>
              </a:ext>
            </a:extLst>
          </p:cNvPr>
          <p:cNvSpPr>
            <a:spLocks noGrp="1"/>
          </p:cNvSpPr>
          <p:nvPr/>
        </p:nvSpPr>
        <p:spPr>
          <a:xfrm>
            <a:off x="895350" y="554355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Критерий успеха: пользователь может пройти основной сценарий без внешних таблиц, ручных списков и переписки вне контекста задачи.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5768804-F52B-49C4-BEBA-62FCEE612CD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CBD2D46-816B-49E5-8B20-458560E443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Studylance / финальный показ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043C632-12FA-4208-AF19-D56295DF23D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674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222D270-5174-40E4-8CB0-66A6220EC2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BF06412F-B90F-48D9-BB83-B29A3A5C9DB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20333A14-6526-4EAD-B862-850AE98C8D95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6F61195-F697-4D31-B32A-8CC6978CB43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096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Основной поток закрывает путь от идеи задания до завершенной работы.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378D1F-ED31-4771-AE40-123190F6122E}"/>
              </a:ext>
            </a:extLst>
          </p:cNvPr>
          <p:cNvSpPr>
            <a:spLocks noGrp="1"/>
          </p:cNvSpPr>
          <p:nvPr/>
        </p:nvSpPr>
        <p:spPr>
          <a:xfrm>
            <a:off x="1371600" y="3219450"/>
            <a:ext cx="8858250" cy="9525"/>
          </a:xfrm>
          <a:prstGeom prst="rect">
            <a:avLst/>
          </a:prstGeom>
          <a:solidFill>
            <a:srgbClr val="CFC8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8B9F50-1BFE-4707-A905-B1DFB0A4C8D1}"/>
              </a:ext>
            </a:extLst>
          </p:cNvPr>
          <p:cNvSpPr>
            <a:spLocks noGrp="1"/>
          </p:cNvSpPr>
          <p:nvPr/>
        </p:nvSpPr>
        <p:spPr>
          <a:xfrm>
            <a:off x="1000125" y="2876550"/>
            <a:ext cx="742950" cy="7429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725200A-5A9E-4BC1-BF11-72E1E2F71F2C}"/>
              </a:ext>
            </a:extLst>
          </p:cNvPr>
          <p:cNvSpPr>
            <a:spLocks noGrp="1"/>
          </p:cNvSpPr>
          <p:nvPr/>
        </p:nvSpPr>
        <p:spPr>
          <a:xfrm>
            <a:off x="1000125" y="3028950"/>
            <a:ext cx="742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C12D9A-02A8-4F56-B9A8-3FEC76085C2A}"/>
              </a:ext>
            </a:extLst>
          </p:cNvPr>
          <p:cNvSpPr>
            <a:spLocks noGrp="1"/>
          </p:cNvSpPr>
          <p:nvPr/>
        </p:nvSpPr>
        <p:spPr>
          <a:xfrm>
            <a:off x="790575" y="38862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Публикация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90F1933-5732-434A-9825-BF78093F34A7}"/>
              </a:ext>
            </a:extLst>
          </p:cNvPr>
          <p:cNvSpPr>
            <a:spLocks noGrp="1"/>
          </p:cNvSpPr>
          <p:nvPr/>
        </p:nvSpPr>
        <p:spPr>
          <a:xfrm>
            <a:off x="485775" y="4171950"/>
            <a:ext cx="1752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название, описание, предмет, бюджет, контакт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59B46CC-9C6D-4F84-AFCB-61ABD848B5D9}"/>
              </a:ext>
            </a:extLst>
          </p:cNvPr>
          <p:cNvSpPr>
            <a:spLocks noGrp="1"/>
          </p:cNvSpPr>
          <p:nvPr/>
        </p:nvSpPr>
        <p:spPr>
          <a:xfrm>
            <a:off x="3190875" y="2876550"/>
            <a:ext cx="742950" cy="7429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697F3BD-C6D5-4E27-8AD7-F910791EF573}"/>
              </a:ext>
            </a:extLst>
          </p:cNvPr>
          <p:cNvSpPr>
            <a:spLocks noGrp="1"/>
          </p:cNvSpPr>
          <p:nvPr/>
        </p:nvSpPr>
        <p:spPr>
          <a:xfrm>
            <a:off x="3190875" y="3028950"/>
            <a:ext cx="742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28AD0FE-1320-42BA-A074-18EE73FB47ED}"/>
              </a:ext>
            </a:extLst>
          </p:cNvPr>
          <p:cNvSpPr>
            <a:spLocks noGrp="1"/>
          </p:cNvSpPr>
          <p:nvPr/>
        </p:nvSpPr>
        <p:spPr>
          <a:xfrm>
            <a:off x="2981325" y="38862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Поиск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64001F0-48C2-4ABB-AEA0-5F87092615A5}"/>
              </a:ext>
            </a:extLst>
          </p:cNvPr>
          <p:cNvSpPr>
            <a:spLocks noGrp="1"/>
          </p:cNvSpPr>
          <p:nvPr/>
        </p:nvSpPr>
        <p:spPr>
          <a:xfrm>
            <a:off x="2676525" y="4171950"/>
            <a:ext cx="1752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фильтры, сортировка, карточки заданий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1ED0DB3-0802-49A5-9202-CE1A3EB954DA}"/>
              </a:ext>
            </a:extLst>
          </p:cNvPr>
          <p:cNvSpPr>
            <a:spLocks noGrp="1"/>
          </p:cNvSpPr>
          <p:nvPr/>
        </p:nvSpPr>
        <p:spPr>
          <a:xfrm>
            <a:off x="5381625" y="2876550"/>
            <a:ext cx="742950" cy="7429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A09530-C721-46C7-A9DF-2CE64F659195}"/>
              </a:ext>
            </a:extLst>
          </p:cNvPr>
          <p:cNvSpPr>
            <a:spLocks noGrp="1"/>
          </p:cNvSpPr>
          <p:nvPr/>
        </p:nvSpPr>
        <p:spPr>
          <a:xfrm>
            <a:off x="5381625" y="3028950"/>
            <a:ext cx="742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2D6A742-4DF9-41A3-B1C7-35B5AD6819DA}"/>
              </a:ext>
            </a:extLst>
          </p:cNvPr>
          <p:cNvSpPr>
            <a:spLocks noGrp="1"/>
          </p:cNvSpPr>
          <p:nvPr/>
        </p:nvSpPr>
        <p:spPr>
          <a:xfrm>
            <a:off x="5172075" y="38862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Отклик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E3B15DC-A92E-4CFD-AB20-78A949136582}"/>
              </a:ext>
            </a:extLst>
          </p:cNvPr>
          <p:cNvSpPr>
            <a:spLocks noGrp="1"/>
          </p:cNvSpPr>
          <p:nvPr/>
        </p:nvSpPr>
        <p:spPr>
          <a:xfrm>
            <a:off x="4867275" y="4171950"/>
            <a:ext cx="1752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исполнитель предлагает решение и сроки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AC6649-4BA7-4353-B9CD-DB8A3457B793}"/>
              </a:ext>
            </a:extLst>
          </p:cNvPr>
          <p:cNvSpPr>
            <a:spLocks noGrp="1"/>
          </p:cNvSpPr>
          <p:nvPr/>
        </p:nvSpPr>
        <p:spPr>
          <a:xfrm>
            <a:off x="7572375" y="2876550"/>
            <a:ext cx="742950" cy="7429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48AB441-F91D-4B47-BFD2-42ABE914A0D6}"/>
              </a:ext>
            </a:extLst>
          </p:cNvPr>
          <p:cNvSpPr>
            <a:spLocks noGrp="1"/>
          </p:cNvSpPr>
          <p:nvPr/>
        </p:nvSpPr>
        <p:spPr>
          <a:xfrm>
            <a:off x="7572375" y="3028950"/>
            <a:ext cx="742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BB6F571-8E03-4752-B24C-54A17A1BE460}"/>
              </a:ext>
            </a:extLst>
          </p:cNvPr>
          <p:cNvSpPr>
            <a:spLocks noGrp="1"/>
          </p:cNvSpPr>
          <p:nvPr/>
        </p:nvSpPr>
        <p:spPr>
          <a:xfrm>
            <a:off x="7362825" y="38862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Принятие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953EE1-AFE1-4EF7-BFA9-026261EE3435}"/>
              </a:ext>
            </a:extLst>
          </p:cNvPr>
          <p:cNvSpPr>
            <a:spLocks noGrp="1"/>
          </p:cNvSpPr>
          <p:nvPr/>
        </p:nvSpPr>
        <p:spPr>
          <a:xfrm>
            <a:off x="7058025" y="4171950"/>
            <a:ext cx="1752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заказчик выбирает исполнителя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1A21069-EB0B-4118-BC1C-76DFE9A0E3B3}"/>
              </a:ext>
            </a:extLst>
          </p:cNvPr>
          <p:cNvSpPr>
            <a:spLocks noGrp="1"/>
          </p:cNvSpPr>
          <p:nvPr/>
        </p:nvSpPr>
        <p:spPr>
          <a:xfrm>
            <a:off x="9763125" y="2876550"/>
            <a:ext cx="742950" cy="7429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0DCC3DD-1F00-4565-A307-C32319D50B21}"/>
              </a:ext>
            </a:extLst>
          </p:cNvPr>
          <p:cNvSpPr>
            <a:spLocks noGrp="1"/>
          </p:cNvSpPr>
          <p:nvPr/>
        </p:nvSpPr>
        <p:spPr>
          <a:xfrm>
            <a:off x="9763125" y="3028950"/>
            <a:ext cx="742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0E4131B-00A5-46C6-B827-BA05377D6D22}"/>
              </a:ext>
            </a:extLst>
          </p:cNvPr>
          <p:cNvSpPr>
            <a:spLocks noGrp="1"/>
          </p:cNvSpPr>
          <p:nvPr/>
        </p:nvSpPr>
        <p:spPr>
          <a:xfrm>
            <a:off x="9553575" y="38862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Итог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E6046CB-0499-4306-9307-BE9DE96C4A97}"/>
              </a:ext>
            </a:extLst>
          </p:cNvPr>
          <p:cNvSpPr>
            <a:spLocks noGrp="1"/>
          </p:cNvSpPr>
          <p:nvPr/>
        </p:nvSpPr>
        <p:spPr>
          <a:xfrm>
            <a:off x="9248775" y="4171950"/>
            <a:ext cx="1752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статус, отзыв, история профиля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F60300E-3B38-4557-B9DD-CA13EA4B067C}"/>
              </a:ext>
            </a:extLst>
          </p:cNvPr>
          <p:cNvSpPr>
            <a:spLocks noGrp="1"/>
          </p:cNvSpPr>
          <p:nvPr/>
        </p:nvSpPr>
        <p:spPr>
          <a:xfrm>
            <a:off x="1409700" y="5448300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Такой сценарий проще защищать и развивать: каждая новая функция усиливает конкретный шаг пользовательского пути.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B776177-8B61-4F6A-9E9F-A52DE4CCBC7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107A872-2BB1-46BB-88C5-8061671570D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Studylance / финальный показ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2106F13-0FE7-47E1-96E0-1092A3AF1BD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367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1CC2BFE-BB9E-4272-8743-96CE2DE0CA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EFDF4AA6-422E-4F08-9554-2106CBF508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00B6B1F0-3299-4E56-BAC7-66E7BBFD0D1E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ФУНКЦИОНАЛ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6A9A1F-1D36-4EEB-9BCF-AC2031B149F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096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Функции сгруппированы вокруг ролей, а не разбросаны отдельными экранами.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7E7612-8A24-4178-B8D5-639FAE689093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3028950" cy="28575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34E1FD-82CB-41B2-A1C8-35CFF6678C73}"/>
              </a:ext>
            </a:extLst>
          </p:cNvPr>
          <p:cNvSpPr>
            <a:spLocks noGrp="1"/>
          </p:cNvSpPr>
          <p:nvPr/>
        </p:nvSpPr>
        <p:spPr>
          <a:xfrm>
            <a:off x="1085850" y="2419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Заказчик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5A4075-47C5-4134-AC7E-A866D0D65940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FB4EB2-83E7-43E7-A029-2AFC31AB5B35}"/>
              </a:ext>
            </a:extLst>
          </p:cNvPr>
          <p:cNvSpPr>
            <a:spLocks noGrp="1"/>
          </p:cNvSpPr>
          <p:nvPr/>
        </p:nvSpPr>
        <p:spPr>
          <a:xfrm>
            <a:off x="1314450" y="28194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создание задания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9C4AC19-C9E2-404B-948A-E65BBD6FD855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89738C0-1787-423B-A2E1-6DD406763250}"/>
              </a:ext>
            </a:extLst>
          </p:cNvPr>
          <p:cNvSpPr>
            <a:spLocks noGrp="1"/>
          </p:cNvSpPr>
          <p:nvPr/>
        </p:nvSpPr>
        <p:spPr>
          <a:xfrm>
            <a:off x="13144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бюджет и вложение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60A292-818B-4933-9F27-84DCF531E34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1DCA197-FEF9-4577-B5FC-CC8B373C13CC}"/>
              </a:ext>
            </a:extLst>
          </p:cNvPr>
          <p:cNvSpPr>
            <a:spLocks noGrp="1"/>
          </p:cNvSpPr>
          <p:nvPr/>
        </p:nvSpPr>
        <p:spPr>
          <a:xfrm>
            <a:off x="1314450" y="36957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контакт для связи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752C142-035F-4443-A7F4-49AF73239EA8}"/>
              </a:ext>
            </a:extLst>
          </p:cNvPr>
          <p:cNvSpPr>
            <a:spLocks noGrp="1"/>
          </p:cNvSpPr>
          <p:nvPr/>
        </p:nvSpPr>
        <p:spPr>
          <a:xfrm>
            <a:off x="1104900" y="422910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EE3B4B8-CF55-406C-9D01-BF507A08CE97}"/>
              </a:ext>
            </a:extLst>
          </p:cNvPr>
          <p:cNvSpPr>
            <a:spLocks noGrp="1"/>
          </p:cNvSpPr>
          <p:nvPr/>
        </p:nvSpPr>
        <p:spPr>
          <a:xfrm>
            <a:off x="1314450" y="4133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выбор исполнителя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273D9EE-C5EF-4D18-A380-2E4DABCFE1A4}"/>
              </a:ext>
            </a:extLst>
          </p:cNvPr>
          <p:cNvSpPr>
            <a:spLocks noGrp="1"/>
          </p:cNvSpPr>
          <p:nvPr/>
        </p:nvSpPr>
        <p:spPr>
          <a:xfrm>
            <a:off x="4419600" y="2190750"/>
            <a:ext cx="3028950" cy="28575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35050B5-929C-45C2-8ECA-1CEC41C35866}"/>
              </a:ext>
            </a:extLst>
          </p:cNvPr>
          <p:cNvSpPr>
            <a:spLocks noGrp="1"/>
          </p:cNvSpPr>
          <p:nvPr/>
        </p:nvSpPr>
        <p:spPr>
          <a:xfrm>
            <a:off x="4629150" y="2419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Исполнитель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4361E1B-7B4C-4EB3-B5C8-A2B8B1EC655A}"/>
              </a:ext>
            </a:extLst>
          </p:cNvPr>
          <p:cNvSpPr>
            <a:spLocks noGrp="1"/>
          </p:cNvSpPr>
          <p:nvPr/>
        </p:nvSpPr>
        <p:spPr>
          <a:xfrm>
            <a:off x="4648200" y="29146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8AAC605-8AEF-4F13-B380-28DD2AF4ACA6}"/>
              </a:ext>
            </a:extLst>
          </p:cNvPr>
          <p:cNvSpPr>
            <a:spLocks noGrp="1"/>
          </p:cNvSpPr>
          <p:nvPr/>
        </p:nvSpPr>
        <p:spPr>
          <a:xfrm>
            <a:off x="4857750" y="28194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каталог заданий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4385044-CA73-45B5-A2B7-E056B9FFD5C8}"/>
              </a:ext>
            </a:extLst>
          </p:cNvPr>
          <p:cNvSpPr>
            <a:spLocks noGrp="1"/>
          </p:cNvSpPr>
          <p:nvPr/>
        </p:nvSpPr>
        <p:spPr>
          <a:xfrm>
            <a:off x="4648200" y="33528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E4C857-B329-4D40-BAE4-AA066E489DDE}"/>
              </a:ext>
            </a:extLst>
          </p:cNvPr>
          <p:cNvSpPr>
            <a:spLocks noGrp="1"/>
          </p:cNvSpPr>
          <p:nvPr/>
        </p:nvSpPr>
        <p:spPr>
          <a:xfrm>
            <a:off x="48577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поиск и фильтры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8E9AF58-4B59-48BF-9547-254915AE02D2}"/>
              </a:ext>
            </a:extLst>
          </p:cNvPr>
          <p:cNvSpPr>
            <a:spLocks noGrp="1"/>
          </p:cNvSpPr>
          <p:nvPr/>
        </p:nvSpPr>
        <p:spPr>
          <a:xfrm>
            <a:off x="4648200" y="37909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DD4900C-9A4C-4226-9B46-4D7C2E3E6A2D}"/>
              </a:ext>
            </a:extLst>
          </p:cNvPr>
          <p:cNvSpPr>
            <a:spLocks noGrp="1"/>
          </p:cNvSpPr>
          <p:nvPr/>
        </p:nvSpPr>
        <p:spPr>
          <a:xfrm>
            <a:off x="4857750" y="36957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отклик на задачу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C178193-19E0-4D08-8A30-2DE19D9F2420}"/>
              </a:ext>
            </a:extLst>
          </p:cNvPr>
          <p:cNvSpPr>
            <a:spLocks noGrp="1"/>
          </p:cNvSpPr>
          <p:nvPr/>
        </p:nvSpPr>
        <p:spPr>
          <a:xfrm>
            <a:off x="4648200" y="42291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22EF73E-C013-4966-9509-779A061B55CA}"/>
              </a:ext>
            </a:extLst>
          </p:cNvPr>
          <p:cNvSpPr>
            <a:spLocks noGrp="1"/>
          </p:cNvSpPr>
          <p:nvPr/>
        </p:nvSpPr>
        <p:spPr>
          <a:xfrm>
            <a:off x="4857750" y="4133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публичный профиль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660AFA3-C8BC-4E1B-921A-764DDC40ACC2}"/>
              </a:ext>
            </a:extLst>
          </p:cNvPr>
          <p:cNvSpPr>
            <a:spLocks noGrp="1"/>
          </p:cNvSpPr>
          <p:nvPr/>
        </p:nvSpPr>
        <p:spPr>
          <a:xfrm>
            <a:off x="7962900" y="2190750"/>
            <a:ext cx="3028950" cy="28575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25788CE-4D5E-44D5-8763-136FE66EEA80}"/>
              </a:ext>
            </a:extLst>
          </p:cNvPr>
          <p:cNvSpPr>
            <a:spLocks noGrp="1"/>
          </p:cNvSpPr>
          <p:nvPr/>
        </p:nvSpPr>
        <p:spPr>
          <a:xfrm>
            <a:off x="8172450" y="2419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8D08D96-EA25-411B-837F-653D9BCDC7FE}"/>
              </a:ext>
            </a:extLst>
          </p:cNvPr>
          <p:cNvSpPr>
            <a:spLocks noGrp="1"/>
          </p:cNvSpPr>
          <p:nvPr/>
        </p:nvSpPr>
        <p:spPr>
          <a:xfrm>
            <a:off x="8191500" y="291465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6A9194F-D21E-4DBE-96B9-9AA626C7D156}"/>
              </a:ext>
            </a:extLst>
          </p:cNvPr>
          <p:cNvSpPr>
            <a:spLocks noGrp="1"/>
          </p:cNvSpPr>
          <p:nvPr/>
        </p:nvSpPr>
        <p:spPr>
          <a:xfrm>
            <a:off x="8401050" y="28194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список пользователей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D3C68AD-B3D2-49AD-B6D0-2B5CE03E724B}"/>
              </a:ext>
            </a:extLst>
          </p:cNvPr>
          <p:cNvSpPr>
            <a:spLocks noGrp="1"/>
          </p:cNvSpPr>
          <p:nvPr/>
        </p:nvSpPr>
        <p:spPr>
          <a:xfrm>
            <a:off x="8191500" y="335280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9377E39-C25E-4F16-BE06-15AAB70C54E3}"/>
              </a:ext>
            </a:extLst>
          </p:cNvPr>
          <p:cNvSpPr>
            <a:spLocks noGrp="1"/>
          </p:cNvSpPr>
          <p:nvPr/>
        </p:nvSpPr>
        <p:spPr>
          <a:xfrm>
            <a:off x="84010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жалобы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735FABC-6655-4DD1-9DFD-71BEB7D4B558}"/>
              </a:ext>
            </a:extLst>
          </p:cNvPr>
          <p:cNvSpPr>
            <a:spLocks noGrp="1"/>
          </p:cNvSpPr>
          <p:nvPr/>
        </p:nvSpPr>
        <p:spPr>
          <a:xfrm>
            <a:off x="8191500" y="379095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4310B9B-6C01-4A39-9F75-095F5F0BC90C}"/>
              </a:ext>
            </a:extLst>
          </p:cNvPr>
          <p:cNvSpPr>
            <a:spLocks noGrp="1"/>
          </p:cNvSpPr>
          <p:nvPr/>
        </p:nvSpPr>
        <p:spPr>
          <a:xfrm>
            <a:off x="8401050" y="36957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блокировки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E257A3D-017F-426B-A58D-F15300CA66E6}"/>
              </a:ext>
            </a:extLst>
          </p:cNvPr>
          <p:cNvSpPr>
            <a:spLocks noGrp="1"/>
          </p:cNvSpPr>
          <p:nvPr/>
        </p:nvSpPr>
        <p:spPr>
          <a:xfrm>
            <a:off x="8191500" y="4229100"/>
            <a:ext cx="7620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CDC17B2-5289-4B2B-9C7A-F9E5FEBB4726}"/>
              </a:ext>
            </a:extLst>
          </p:cNvPr>
          <p:cNvSpPr>
            <a:spLocks noGrp="1"/>
          </p:cNvSpPr>
          <p:nvPr/>
        </p:nvSpPr>
        <p:spPr>
          <a:xfrm>
            <a:off x="8401050" y="4133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управление статусами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7923A25-2825-4D2D-A1F5-2833FA3B8C20}"/>
              </a:ext>
            </a:extLst>
          </p:cNvPr>
          <p:cNvSpPr>
            <a:spLocks noGrp="1"/>
          </p:cNvSpPr>
          <p:nvPr/>
        </p:nvSpPr>
        <p:spPr>
          <a:xfrm>
            <a:off x="1066800" y="5638800"/>
            <a:ext cx="933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Итог: продукт покрывает не только размещение задачи, но и доверие, навигацию, контроль и дальнейшее развитие платформы.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2402DAF-289C-45AC-BE69-7E379F194F6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C39191A-5A56-44D8-9B8B-DF3D16BEC4F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Studylance / финальный показ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F30D5B3-97B5-4844-A4E4-749009090DB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95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E1BCC1A-2E0D-4CDB-B605-F117021A9C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C69F0425-6D77-482D-8144-4195F244C7B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01E9C4EA-A7FB-4C2E-AE62-A6B7417D356D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D80FB6-BC2E-4594-AFA0-D31306D1272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382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Проект развернут как понятный web-stack: React-клиент, Spring API и PostgreSQL.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8497C7-61CF-40AA-8BA8-857B8443942F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705100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3D9E861-9DAA-4853-8373-C1A9A7377C09}"/>
              </a:ext>
            </a:extLst>
          </p:cNvPr>
          <p:cNvSpPr>
            <a:spLocks noGrp="1"/>
          </p:cNvSpPr>
          <p:nvPr/>
        </p:nvSpPr>
        <p:spPr>
          <a:xfrm>
            <a:off x="1200150" y="25717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7B647E5-C18A-4FB9-A0B1-59E0E2049672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22098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React + Vite + Mantine</a:t>
            </a:r>
          </a:p>
          <a:p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Redux Toolkit, Router, Axios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0E4ED1-4E24-4690-9568-26860D3E25E2}"/>
              </a:ext>
            </a:extLst>
          </p:cNvPr>
          <p:cNvSpPr>
            <a:spLocks noGrp="1"/>
          </p:cNvSpPr>
          <p:nvPr/>
        </p:nvSpPr>
        <p:spPr>
          <a:xfrm>
            <a:off x="3771900" y="3143250"/>
            <a:ext cx="514350" cy="9525"/>
          </a:xfrm>
          <a:prstGeom prst="rect">
            <a:avLst/>
          </a:prstGeom>
          <a:solidFill>
            <a:srgbClr val="BEB7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395A15-6747-4FFD-AECC-F6443F33154B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76200" cy="76200"/>
          </a:xfrm>
          <a:prstGeom prst="rect">
            <a:avLst/>
          </a:prstGeom>
          <a:solidFill>
            <a:srgbClr val="BEB7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2231CE8-B609-4FD6-9D0F-5CB95D50CEFE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2705100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7F89EC-1186-4801-A03F-B75D60B1D478}"/>
              </a:ext>
            </a:extLst>
          </p:cNvPr>
          <p:cNvSpPr>
            <a:spLocks noGrp="1"/>
          </p:cNvSpPr>
          <p:nvPr/>
        </p:nvSpPr>
        <p:spPr>
          <a:xfrm>
            <a:off x="4591050" y="25717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3BCC76-10CF-4585-B0B3-0DAC72D8C221}"/>
              </a:ext>
            </a:extLst>
          </p:cNvPr>
          <p:cNvSpPr>
            <a:spLocks noGrp="1"/>
          </p:cNvSpPr>
          <p:nvPr/>
        </p:nvSpPr>
        <p:spPr>
          <a:xfrm>
            <a:off x="4591050" y="2952750"/>
            <a:ext cx="22098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Spring Boot</a:t>
            </a:r>
          </a:p>
          <a:p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JWT auth, controllers, services, DTO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1FDA14B-B8AE-4DD8-BB29-F229598D3455}"/>
              </a:ext>
            </a:extLst>
          </p:cNvPr>
          <p:cNvSpPr>
            <a:spLocks noGrp="1"/>
          </p:cNvSpPr>
          <p:nvPr/>
        </p:nvSpPr>
        <p:spPr>
          <a:xfrm>
            <a:off x="7162800" y="3143250"/>
            <a:ext cx="514350" cy="9525"/>
          </a:xfrm>
          <a:prstGeom prst="rect">
            <a:avLst/>
          </a:prstGeom>
          <a:solidFill>
            <a:srgbClr val="BEB7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40FB82-CE76-4A9C-A7B6-8267A2471B9C}"/>
              </a:ext>
            </a:extLst>
          </p:cNvPr>
          <p:cNvSpPr>
            <a:spLocks noGrp="1"/>
          </p:cNvSpPr>
          <p:nvPr/>
        </p:nvSpPr>
        <p:spPr>
          <a:xfrm>
            <a:off x="7658100" y="3105150"/>
            <a:ext cx="76200" cy="76200"/>
          </a:xfrm>
          <a:prstGeom prst="rect">
            <a:avLst/>
          </a:prstGeom>
          <a:solidFill>
            <a:srgbClr val="BEB7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8E23C8-7E7E-477B-A52B-DE62D6A9730F}"/>
              </a:ext>
            </a:extLst>
          </p:cNvPr>
          <p:cNvSpPr>
            <a:spLocks noGrp="1"/>
          </p:cNvSpPr>
          <p:nvPr/>
        </p:nvSpPr>
        <p:spPr>
          <a:xfrm>
            <a:off x="7772400" y="2324100"/>
            <a:ext cx="2705100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FF972F-8049-4FA6-ACCE-19DD3CB6CC40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B09ED5B-5A59-417A-87C6-0A650E86300D}"/>
              </a:ext>
            </a:extLst>
          </p:cNvPr>
          <p:cNvSpPr>
            <a:spLocks noGrp="1"/>
          </p:cNvSpPr>
          <p:nvPr/>
        </p:nvSpPr>
        <p:spPr>
          <a:xfrm>
            <a:off x="7981950" y="2952750"/>
            <a:ext cx="22098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PostgreSQL 15</a:t>
            </a:r>
          </a:p>
          <a:p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Liquibase migrations, categories, posts, users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7A44B63-3F1D-4979-B930-CD661CAD9664}"/>
              </a:ext>
            </a:extLst>
          </p:cNvPr>
          <p:cNvSpPr>
            <a:spLocks noGrp="1"/>
          </p:cNvSpPr>
          <p:nvPr/>
        </p:nvSpPr>
        <p:spPr>
          <a:xfrm>
            <a:off x="2266950" y="4629150"/>
            <a:ext cx="7620000" cy="6858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B503C0D-7CA1-4283-8940-40B34B9FC050}"/>
              </a:ext>
            </a:extLst>
          </p:cNvPr>
          <p:cNvSpPr>
            <a:spLocks noGrp="1"/>
          </p:cNvSpPr>
          <p:nvPr/>
        </p:nvSpPr>
        <p:spPr>
          <a:xfrm>
            <a:off x="2533650" y="4819650"/>
            <a:ext cx="7067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Docker Compose связывает сервисы локально: frontend :5173, backend :8080, PostgreSQL :5432. Это упрощает демонстрацию и повторяемый запуск проекта.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8497734-7AE3-4F60-8E41-D4C325C99B3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47322B9-0B72-4A41-8E2D-7DD18956B3E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Источник: docker-compose.yml и структура репозитория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7ED3F01-0480-48C2-9444-A3BB2853859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568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7D8632F-F60C-42C0-BD8B-9ABD410248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31BB825F-7185-4EC7-A83F-E067BC98597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D87A25FF-7B41-48D7-B69B-B29F2C0F6EF9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ПОЧЕМУ ЛУЧШЕ АЛЬТЕРНАТИВ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34BC62-EE73-4A54-8A4D-0302BD4647F0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7429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Мы выигрываем не масштабом, а фокусом на учебном заказе.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019A41-F3FE-4453-84C9-BB2BEDB6EBD9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Альтернатива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63205F-0555-449C-8828-040C556EC14F}"/>
              </a:ext>
            </a:extLst>
          </p:cNvPr>
          <p:cNvSpPr>
            <a:spLocks noGrp="1"/>
          </p:cNvSpPr>
          <p:nvPr/>
        </p:nvSpPr>
        <p:spPr>
          <a:xfrm>
            <a:off x="3352800" y="20764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Что не хватает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A567052-6167-41AF-BD60-71F343FA7E89}"/>
              </a:ext>
            </a:extLst>
          </p:cNvPr>
          <p:cNvSpPr>
            <a:spLocks noGrp="1"/>
          </p:cNvSpPr>
          <p:nvPr/>
        </p:nvSpPr>
        <p:spPr>
          <a:xfrm>
            <a:off x="6781800" y="20764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Что дает Studylance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083EEDF-4400-4BAA-B640-8DB7A6814A49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476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44A6AB-AA2B-492E-BADA-FE4955B3C6C3}"/>
              </a:ext>
            </a:extLst>
          </p:cNvPr>
          <p:cNvSpPr>
            <a:spLocks noGrp="1"/>
          </p:cNvSpPr>
          <p:nvPr/>
        </p:nvSpPr>
        <p:spPr>
          <a:xfrm>
            <a:off x="1028700" y="2609850"/>
            <a:ext cx="2171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Чаты и каналы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7B121C5-D591-48BB-8969-EBE2DDA12C21}"/>
              </a:ext>
            </a:extLst>
          </p:cNvPr>
          <p:cNvSpPr>
            <a:spLocks noGrp="1"/>
          </p:cNvSpPr>
          <p:nvPr/>
        </p:nvSpPr>
        <p:spPr>
          <a:xfrm>
            <a:off x="3352800" y="2457450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6D4ABCF-D3A3-4702-B9D8-E913183B2EA7}"/>
              </a:ext>
            </a:extLst>
          </p:cNvPr>
          <p:cNvSpPr>
            <a:spLocks noGrp="1"/>
          </p:cNvSpPr>
          <p:nvPr/>
        </p:nvSpPr>
        <p:spPr>
          <a:xfrm>
            <a:off x="3505200" y="2609850"/>
            <a:ext cx="3124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нет статусов, поиска и профилей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2572786-6EC6-447C-8329-DBCC5EB76B80}"/>
              </a:ext>
            </a:extLst>
          </p:cNvPr>
          <p:cNvSpPr>
            <a:spLocks noGrp="1"/>
          </p:cNvSpPr>
          <p:nvPr/>
        </p:nvSpPr>
        <p:spPr>
          <a:xfrm>
            <a:off x="6781800" y="2457450"/>
            <a:ext cx="390525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96E704C-C417-437F-B087-98035F554805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3600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структурированная доска заданий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6F65968-AE65-4E99-ABE9-B188189D006E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2476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99A776A-7DE1-4F6F-B0FC-E14C6627813D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2171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Общие доски объявлений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6326DF2-F510-4C35-9D38-1E6B16EB57D8}"/>
              </a:ext>
            </a:extLst>
          </p:cNvPr>
          <p:cNvSpPr>
            <a:spLocks noGrp="1"/>
          </p:cNvSpPr>
          <p:nvPr/>
        </p:nvSpPr>
        <p:spPr>
          <a:xfrm>
            <a:off x="3352800" y="3371850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E39CB78-FEEF-47CD-B17D-6BF64C2B1FE7}"/>
              </a:ext>
            </a:extLst>
          </p:cNvPr>
          <p:cNvSpPr>
            <a:spLocks noGrp="1"/>
          </p:cNvSpPr>
          <p:nvPr/>
        </p:nvSpPr>
        <p:spPr>
          <a:xfrm>
            <a:off x="3505200" y="3524250"/>
            <a:ext cx="3124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слишком широкий контекст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BAC4EFC-2DAF-4AFA-8E6D-599F3FFB0982}"/>
              </a:ext>
            </a:extLst>
          </p:cNvPr>
          <p:cNvSpPr>
            <a:spLocks noGrp="1"/>
          </p:cNvSpPr>
          <p:nvPr/>
        </p:nvSpPr>
        <p:spPr>
          <a:xfrm>
            <a:off x="6781800" y="3371850"/>
            <a:ext cx="390525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3C4D0E4-ECDC-4CB5-B018-C0B022C77367}"/>
              </a:ext>
            </a:extLst>
          </p:cNvPr>
          <p:cNvSpPr>
            <a:spLocks noGrp="1"/>
          </p:cNvSpPr>
          <p:nvPr/>
        </p:nvSpPr>
        <p:spPr>
          <a:xfrm>
            <a:off x="6934200" y="3524250"/>
            <a:ext cx="3600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предмет, бюджет и учебный сценарий сразу в карточке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3261884-BA8D-4961-98AC-346B78B0F886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2476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F88D5A5-7B9B-4B14-BC26-FF016706EFD5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171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LMS / учебные системы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B7BDCE7-C6A7-4D69-BBEB-F9FB40031AFC}"/>
              </a:ext>
            </a:extLst>
          </p:cNvPr>
          <p:cNvSpPr>
            <a:spLocks noGrp="1"/>
          </p:cNvSpPr>
          <p:nvPr/>
        </p:nvSpPr>
        <p:spPr>
          <a:xfrm>
            <a:off x="3352800" y="4286250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5CEDBF4-9CC3-48AE-BDD9-427C71DADFA8}"/>
              </a:ext>
            </a:extLst>
          </p:cNvPr>
          <p:cNvSpPr>
            <a:spLocks noGrp="1"/>
          </p:cNvSpPr>
          <p:nvPr/>
        </p:nvSpPr>
        <p:spPr>
          <a:xfrm>
            <a:off x="3505200" y="4438650"/>
            <a:ext cx="3124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не рассчитаны на исполнителей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FF32F31-A360-4D76-9D09-A566A687BD25}"/>
              </a:ext>
            </a:extLst>
          </p:cNvPr>
          <p:cNvSpPr>
            <a:spLocks noGrp="1"/>
          </p:cNvSpPr>
          <p:nvPr/>
        </p:nvSpPr>
        <p:spPr>
          <a:xfrm>
            <a:off x="6781800" y="4286250"/>
            <a:ext cx="390525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862730F-E03F-46A6-A5E6-B60511754737}"/>
              </a:ext>
            </a:extLst>
          </p:cNvPr>
          <p:cNvSpPr>
            <a:spLocks noGrp="1"/>
          </p:cNvSpPr>
          <p:nvPr/>
        </p:nvSpPr>
        <p:spPr>
          <a:xfrm>
            <a:off x="6934200" y="4438650"/>
            <a:ext cx="3600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связка заказчик → исполнитель → отзыв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435BC0A-4514-4F4C-B0A0-30844D9A1732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895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Позиционирование: маленький, понятный и проверяемый продукт для конкретной боли, а не еще одна универсальная площадка.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A0BE857-F234-4A69-B96F-1B3CB6496DB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E049F33-8193-4164-84DF-082E3C56164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Конкурентный вывод основан на продуктовой специализации, без заявлений о доле рынка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AEB6510-9D1C-4DA0-AD58-73C31986746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3779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F41F2E9-A4E3-42F5-B63C-8AB8819804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519FC1F2-00A5-4B34-8865-DA6330DD741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9DA41340-8005-40FF-9FDC-E6BDE0AC68EE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ГОТОВНОСТЬ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74DC5-8616-45E5-A938-6E458EFF9B8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Ключевые экраны уже связаны в рабочий пользовательский маршрут.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002E7A-28F7-460B-802B-F0518F8A9278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3295650" cy="1914525"/>
          </a:xfrm>
          <a:prstGeom prst="rect">
            <a:avLst/>
          </a:prstGeom>
          <a:solidFill>
            <a:srgbClr val="111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rcRect t="138" b="138"/>
          <a:stretch>
            <a:fillRect/>
          </a:stretch>
        </p:blipFill>
        <p:spPr>
          <a:xfrm>
            <a:off x="781050" y="1924050"/>
            <a:ext cx="3143250" cy="176212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3222757-0A19-4E89-ACBA-552CCC5996A2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Каталог заданий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E19BC0E-21D3-452C-B9DF-2697ACFFAF70}"/>
              </a:ext>
            </a:extLst>
          </p:cNvPr>
          <p:cNvSpPr>
            <a:spLocks noGrp="1"/>
          </p:cNvSpPr>
          <p:nvPr/>
        </p:nvSpPr>
        <p:spPr>
          <a:xfrm>
            <a:off x="4438650" y="1847850"/>
            <a:ext cx="3295650" cy="1914525"/>
          </a:xfrm>
          <a:prstGeom prst="rect">
            <a:avLst/>
          </a:prstGeom>
          <a:solidFill>
            <a:srgbClr val="111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rcRect t="138" b="138"/>
          <a:stretch>
            <a:fillRect/>
          </a:stretch>
        </p:blipFill>
        <p:spPr>
          <a:xfrm>
            <a:off x="4514850" y="1924050"/>
            <a:ext cx="3143250" cy="176212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D4BA16F-DC1E-4993-A1AA-68B5D287D6F4}"/>
              </a:ext>
            </a:extLst>
          </p:cNvPr>
          <p:cNvSpPr>
            <a:spLocks noGrp="1"/>
          </p:cNvSpPr>
          <p:nvPr/>
        </p:nvSpPr>
        <p:spPr>
          <a:xfrm>
            <a:off x="4514850" y="3838575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Карточка задания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C06E631-0514-41DE-82BA-AE4D468B3FD3}"/>
              </a:ext>
            </a:extLst>
          </p:cNvPr>
          <p:cNvSpPr>
            <a:spLocks noGrp="1"/>
          </p:cNvSpPr>
          <p:nvPr/>
        </p:nvSpPr>
        <p:spPr>
          <a:xfrm>
            <a:off x="8172450" y="1847850"/>
            <a:ext cx="3295650" cy="1914525"/>
          </a:xfrm>
          <a:prstGeom prst="rect">
            <a:avLst/>
          </a:prstGeom>
          <a:solidFill>
            <a:srgbClr val="111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rcRect t="138" b="138"/>
          <a:stretch>
            <a:fillRect/>
          </a:stretch>
        </p:blipFill>
        <p:spPr>
          <a:xfrm>
            <a:off x="8248650" y="1924050"/>
            <a:ext cx="3143250" cy="176212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F4127DD-EA43-4CC5-A497-CA7D5BB7E0C7}"/>
              </a:ext>
            </a:extLst>
          </p:cNvPr>
          <p:cNvSpPr>
            <a:spLocks noGrp="1"/>
          </p:cNvSpPr>
          <p:nvPr/>
        </p:nvSpPr>
        <p:spPr>
          <a:xfrm>
            <a:off x="8248650" y="3838575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Профиль пользователя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88073F-7185-4324-BEBC-ECED982CFF26}"/>
              </a:ext>
            </a:extLst>
          </p:cNvPr>
          <p:cNvSpPr>
            <a:spLocks noGrp="1"/>
          </p:cNvSpPr>
          <p:nvPr/>
        </p:nvSpPr>
        <p:spPr>
          <a:xfrm>
            <a:off x="933450" y="4800600"/>
            <a:ext cx="962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Сейчас готово: русифицированный UI, регистрация и вход, публикация задания, список и фильтры, карточка задания, профили, отклики, жалобы, админка и контейнерный запуск.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F5A279-9CD6-4BCF-A02B-891999A930D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62E149-759B-4EA3-BAF1-F703096141B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Источник: локальная демонстрация http://localhost:5173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5DD6A15-D57F-438F-BE3F-215C4D54A88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101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D06A95F-645A-4810-AD71-EFBE261E80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6A20CFCE-E100-4876-B66F-1A3137DCF4C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4000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7F32881A-081C-45FE-B579-A658C8BF35CC}"/>
              </a:ext>
            </a:extLst>
          </p:cNvPr>
          <p:cNvSpPr>
            <a:spLocks noGrp="1"/>
          </p:cNvSpPr>
          <p:nvPr/>
        </p:nvSpPr>
        <p:spPr>
          <a:xfrm>
            <a:off x="1200150" y="4381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6860"/>
                </a:solidFill>
                <a:latin typeface="Aptos"/>
                <a:ea typeface="Aptos"/>
                <a:cs typeface="Aptos"/>
              </a:rPr>
              <a:t>ДАЛЬНЕЙШЕЕ РАЗВИТИЕ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6D7515-EBDF-4D69-B765-261F54C0940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382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Следующий этап — усилить доверие и сделать платформу ближе к реальной сделке.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577038-E320-4C2A-86E8-E2DDC17D5AC2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2479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F8FFE8-E07F-4782-BFF0-821FC65F0671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323850" cy="3238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A407DE-CE75-40B2-8047-BAE7492A691A}"/>
              </a:ext>
            </a:extLst>
          </p:cNvPr>
          <p:cNvSpPr>
            <a:spLocks noGrp="1"/>
          </p:cNvSpPr>
          <p:nvPr/>
        </p:nvSpPr>
        <p:spPr>
          <a:xfrm>
            <a:off x="1085850" y="27717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2217B3-BA65-4056-A22F-8D9CAE657B12}"/>
              </a:ext>
            </a:extLst>
          </p:cNvPr>
          <p:cNvSpPr>
            <a:spLocks noGrp="1"/>
          </p:cNvSpPr>
          <p:nvPr/>
        </p:nvSpPr>
        <p:spPr>
          <a:xfrm>
            <a:off x="1085850" y="32385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Уведомления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1107860-882E-434B-9892-383F97C27B83}"/>
              </a:ext>
            </a:extLst>
          </p:cNvPr>
          <p:cNvSpPr>
            <a:spLocks noGrp="1"/>
          </p:cNvSpPr>
          <p:nvPr/>
        </p:nvSpPr>
        <p:spPr>
          <a:xfrm>
            <a:off x="1085850" y="3562350"/>
            <a:ext cx="1790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сообщения о новых откликах, смене статуса и жалобах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24426E8-6824-4A44-BB13-8476AE135EBC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2479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3369F4-7410-418A-8549-EF5AAFDE1D8D}"/>
              </a:ext>
            </a:extLst>
          </p:cNvPr>
          <p:cNvSpPr>
            <a:spLocks noGrp="1"/>
          </p:cNvSpPr>
          <p:nvPr/>
        </p:nvSpPr>
        <p:spPr>
          <a:xfrm>
            <a:off x="3733800" y="272415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235CCF8-D98B-4830-AFCC-6542AD021D07}"/>
              </a:ext>
            </a:extLst>
          </p:cNvPr>
          <p:cNvSpPr>
            <a:spLocks noGrp="1"/>
          </p:cNvSpPr>
          <p:nvPr/>
        </p:nvSpPr>
        <p:spPr>
          <a:xfrm>
            <a:off x="3733800" y="27717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0D681A-9831-471C-A5EB-4D85DB1F03ED}"/>
              </a:ext>
            </a:extLst>
          </p:cNvPr>
          <p:cNvSpPr>
            <a:spLocks noGrp="1"/>
          </p:cNvSpPr>
          <p:nvPr/>
        </p:nvSpPr>
        <p:spPr>
          <a:xfrm>
            <a:off x="3733800" y="32385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Безопасная оплата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F8200D-2C43-422E-901A-ACA221361A97}"/>
              </a:ext>
            </a:extLst>
          </p:cNvPr>
          <p:cNvSpPr>
            <a:spLocks noGrp="1"/>
          </p:cNvSpPr>
          <p:nvPr/>
        </p:nvSpPr>
        <p:spPr>
          <a:xfrm>
            <a:off x="3733800" y="3562350"/>
            <a:ext cx="1790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депозит, подтверждение результата, возврат средств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80B737E-9CF5-4ADA-954A-4029A482396B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22479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D407A04-B51E-4E4C-AC00-754CB00B6658}"/>
              </a:ext>
            </a:extLst>
          </p:cNvPr>
          <p:cNvSpPr>
            <a:spLocks noGrp="1"/>
          </p:cNvSpPr>
          <p:nvPr/>
        </p:nvSpPr>
        <p:spPr>
          <a:xfrm>
            <a:off x="6381750" y="2724150"/>
            <a:ext cx="323850" cy="3238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7DEFB94-5E43-410D-ABB3-BC3B488E345B}"/>
              </a:ext>
            </a:extLst>
          </p:cNvPr>
          <p:cNvSpPr>
            <a:spLocks noGrp="1"/>
          </p:cNvSpPr>
          <p:nvPr/>
        </p:nvSpPr>
        <p:spPr>
          <a:xfrm>
            <a:off x="6381750" y="27717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71666A0-CBD2-405F-BA76-573507B23EAD}"/>
              </a:ext>
            </a:extLst>
          </p:cNvPr>
          <p:cNvSpPr>
            <a:spLocks noGrp="1"/>
          </p:cNvSpPr>
          <p:nvPr/>
        </p:nvSpPr>
        <p:spPr>
          <a:xfrm>
            <a:off x="6381750" y="32385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Репутация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BE6A24A-75F7-4837-858F-0EF46BFC9219}"/>
              </a:ext>
            </a:extLst>
          </p:cNvPr>
          <p:cNvSpPr>
            <a:spLocks noGrp="1"/>
          </p:cNvSpPr>
          <p:nvPr/>
        </p:nvSpPr>
        <p:spPr>
          <a:xfrm>
            <a:off x="6381750" y="3562350"/>
            <a:ext cx="1790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расширенные отзывы, портфолио, история выполненных задач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A5F8576-8691-40E4-A0EC-E2146114667B}"/>
              </a:ext>
            </a:extLst>
          </p:cNvPr>
          <p:cNvSpPr>
            <a:spLocks noGrp="1"/>
          </p:cNvSpPr>
          <p:nvPr/>
        </p:nvSpPr>
        <p:spPr>
          <a:xfrm>
            <a:off x="8820150" y="2476500"/>
            <a:ext cx="22479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04076A8-65BC-44B6-95BB-BD5DDABD9845}"/>
              </a:ext>
            </a:extLst>
          </p:cNvPr>
          <p:cNvSpPr>
            <a:spLocks noGrp="1"/>
          </p:cNvSpPr>
          <p:nvPr/>
        </p:nvSpPr>
        <p:spPr>
          <a:xfrm>
            <a:off x="9029700" y="272415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1BB2B92-BCF2-4F29-BAD5-CF723DE87BA2}"/>
              </a:ext>
            </a:extLst>
          </p:cNvPr>
          <p:cNvSpPr>
            <a:spLocks noGrp="1"/>
          </p:cNvSpPr>
          <p:nvPr/>
        </p:nvSpPr>
        <p:spPr>
          <a:xfrm>
            <a:off x="9029700" y="27717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ED3C437-8DED-42E0-965D-32E9901DD9DD}"/>
              </a:ext>
            </a:extLst>
          </p:cNvPr>
          <p:cNvSpPr>
            <a:spLocks noGrp="1"/>
          </p:cNvSpPr>
          <p:nvPr/>
        </p:nvSpPr>
        <p:spPr>
          <a:xfrm>
            <a:off x="9029700" y="32385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Умный поиск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B17C7F8-5822-47FF-8423-8D6EF5A093D0}"/>
              </a:ext>
            </a:extLst>
          </p:cNvPr>
          <p:cNvSpPr>
            <a:spLocks noGrp="1"/>
          </p:cNvSpPr>
          <p:nvPr/>
        </p:nvSpPr>
        <p:spPr>
          <a:xfrm>
            <a:off x="9029700" y="3562350"/>
            <a:ext cx="1790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8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860"/>
                </a:solidFill>
                <a:latin typeface="Aptos"/>
                <a:ea typeface="Aptos"/>
                <a:cs typeface="Aptos"/>
              </a:rPr>
              <a:t>подбор задач по навыкам, предметам и бюджету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A501CB-3C68-469F-B9CD-A621976AEFA2}"/>
              </a:ext>
            </a:extLst>
          </p:cNvPr>
          <p:cNvSpPr>
            <a:spLocks noGrp="1"/>
          </p:cNvSpPr>
          <p:nvPr/>
        </p:nvSpPr>
        <p:spPr>
          <a:xfrm>
            <a:off x="1200150" y="5219700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Финальная мысль: Studylance уже демонстрирует полный скелет продукта, а дальнейшие улучшения усиливают доверие, скорость и повторное использование.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50AFE11-C638-4BE3-8788-B2044722625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E3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6092D10-F973-4D81-BD96-1E4C4E6DDC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Studylance / финальный показ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38B1482-93D3-4062-87FA-69A40C9E7EA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6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6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86694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Macintosh PowerPoint</Application>
  <DocSecurity>0</DocSecurity>
  <PresentationFormat>Широкоэкранный</PresentationFormat>
  <Paragraphs>137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raskovalov.valya@gmail.com</cp:lastModifiedBy>
  <cp:revision>1</cp:revision>
  <dcterms:created xsi:type="dcterms:W3CDTF">2026-05-26T07:50:19Z</dcterms:created>
  <dcterms:modified xsi:type="dcterms:W3CDTF">2026-05-26T07:53:35Z</dcterms:modified>
</cp:coreProperties>
</file>